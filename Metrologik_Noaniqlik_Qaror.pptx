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
    Type="http://schemas.openxmlformats.org/officeDocument/2006/relationships/officeDocument"
   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/>
  <p:sldSz cx="9144000" cy="5143500" type="custom"/>
  <p:notesSz cx="6858000" cy="9144000"/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  <Relationship Id="rId6" Type="http://schemas.openxmlformats.org/officeDocument/2006/relationships/slide" Target="slides/slide6.xml"/>
  <Relationship Id="rId7" Type="http://schemas.openxmlformats.org/officeDocument/2006/relationships/slide" Target="slides/slide7.xml"/>
  <Relationship Id="rId8" Type="http://schemas.openxmlformats.org/officeDocument/2006/relationships/slide" Target="slides/slide8.xml"/>
  <Relationship Id="rId9" Type="http://schemas.openxmlformats.org/officeDocument/2006/relationships/slide" Target="slides/slide9.xml"/>
  <Relationship Id="rId10" Type="http://schemas.openxmlformats.org/officeDocument/2006/relationships/slide" Target="slides/slide10.xml"/>
</Relationships>
</file>

<file path=ppt/slides/_rels/slide1.xml.rels><?xml version="1.0" encoding="UTF-8" standalone="yes"?>
<Relationships xmlns="http://schemas.openxmlformats.org/package/2006/relationships">
</Relationships>
</file>

<file path=ppt/slides/_rels/slide2.xml.rels><?xml version="1.0" encoding="UTF-8" standalone="yes"?>
<Relationships xmlns="http://schemas.openxmlformats.org/package/2006/relationships">
</Relationships>
</file>

<file path=ppt/slides/_rels/slide3.xml.rels><?xml version="1.0" encoding="UTF-8" standalone="yes"?>
<Relationships xmlns="http://schemas.openxmlformats.org/package/2006/relationships">
</Relationships>
</file>

<file path=ppt/slides/_rels/slide4.xml.rels><?xml version="1.0" encoding="UTF-8" standalone="yes"?>
<Relationships xmlns="http://schemas.openxmlformats.org/package/2006/relationships">
</Relationships>
</file>

<file path=ppt/slides/_rels/slide5.xml.rels><?xml version="1.0" encoding="UTF-8" standalone="yes"?>
<Relationships xmlns="http://schemas.openxmlformats.org/package/2006/relationships">
</Relationships>
</file>

<file path=ppt/slides/_rels/slide6.xml.rels><?xml version="1.0" encoding="UTF-8" standalone="yes"?>
<Relationships xmlns="http://schemas.openxmlformats.org/package/2006/relationships">
</Relationships>
</file>

<file path=ppt/slides/_rels/slide7.xml.rels><?xml version="1.0" encoding="UTF-8" standalone="yes"?>
<Relationships xmlns="http://schemas.openxmlformats.org/package/2006/relationships">
</Relationships>
</file>

<file path=ppt/slides/_rels/slide8.xml.rels><?xml version="1.0" encoding="UTF-8" standalone="yes"?>
<Relationships xmlns="http://schemas.openxmlformats.org/package/2006/relationships">
</Relationships>
</file>

<file path=ppt/slides/_rels/slide9.xml.rels><?xml version="1.0" encoding="UTF-8" standalone="yes"?>
<Relationships xmlns="http://schemas.openxmlformats.org/package/2006/relationships">
</Relationships>
</file>

<file path=ppt/slides/_rels/slide10.xml.rels><?xml version="1.0" encoding="UTF-8" standalone="yes"?>
<Relationships xmlns="http://schemas.openxmlformats.org/package/2006/relationships"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1" name="sp1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3864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400" dirty="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" name="sp2"/>
          <p:cNvSpPr>
            <a:spLocks noGrp="1"/>
          </p:cNvSpPr>
          <p:nvPr/>
        </p:nvSpPr>
        <p:spPr>
          <a:xfrm>
            <a:off x="0" y="0"/>
            <a:ext cx="9144000" cy="180000"/>
          </a:xfrm>
          <a:prstGeom prst="rect">
            <a:avLst/>
          </a:prstGeom>
          <a:solidFill>
            <a:srgbClr val="00B0F0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400" dirty="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" name="sp3"/>
          <p:cNvSpPr>
            <a:spLocks noGrp="1"/>
          </p:cNvSpPr>
          <p:nvPr/>
        </p:nvSpPr>
        <p:spPr>
          <a:xfrm>
            <a:off x="0" y="4963500"/>
            <a:ext cx="9144000" cy="180000"/>
          </a:xfrm>
          <a:prstGeom prst="rect">
            <a:avLst/>
          </a:prstGeom>
          <a:solidFill>
            <a:srgbClr val="00B0F0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400" dirty="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" name="sp4"/>
          <p:cNvSpPr>
            <a:spLocks noGrp="1"/>
          </p:cNvSpPr>
          <p:nvPr/>
        </p:nvSpPr>
        <p:spPr>
          <a:xfrm>
            <a:off x="288000" y="432000"/>
            <a:ext cx="8568000" cy="720000"/>
          </a:xfrm>
          <a:prstGeom prst="rect">
            <a:avLst/>
          </a:prstGeom>
          <a:noFill/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2800" dirty="0" b="1" i="0">
                <a:solidFill>
                  <a:srgbClr val="FFFFFF"/>
                </a:solidFill>
                <a:latin typeface="Calibri"/>
              </a:rPr>
              <a:t>O'LCHOV NOANIQLIGINI HISOBLASH</a:t>
            </a:r>
          </a:p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2800" dirty="0" b="1" i="0">
                <a:solidFill>
                  <a:srgbClr val="FFFFFF"/>
                </a:solidFill>
                <a:latin typeface="Calibri"/>
              </a:rPr>
              <a:t>VA QAROR QABUL QILISH QOIDALARI</a:t>
            </a:r>
          </a:p>
        </p:txBody>
      </p:sp>
      <p:sp>
        <p:nvSpPr>
          <p:cNvPr id="5" name="sp5"/>
          <p:cNvSpPr>
            <a:spLocks noGrp="1"/>
          </p:cNvSpPr>
          <p:nvPr/>
        </p:nvSpPr>
        <p:spPr>
          <a:xfrm>
            <a:off x="360000" y="1224000"/>
            <a:ext cx="8424000" cy="288000"/>
          </a:xfrm>
          <a:prstGeom prst="rect">
            <a:avLst/>
          </a:prstGeom>
          <a:noFill/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500" dirty="0" b="0" i="0">
                <a:solidFill>
                  <a:srgbClr val="00B0F0"/>
                </a:solidFill>
                <a:latin typeface="Calibri"/>
              </a:rPr>
              <a:t>Mahsulotlarda Toksik Moddalar Aniqlanishi va Umumiy Metrologik Amaliyot</a:t>
            </a:r>
          </a:p>
        </p:txBody>
      </p:sp>
      <p:sp>
        <p:nvSpPr>
          <p:cNvPr id="6" name="line7"/>
          <p:cNvSpPr>
            <a:spLocks noGrp="1"/>
          </p:cNvSpPr>
          <p:nvPr/>
        </p:nvSpPr>
        <p:spPr>
          <a:xfrm>
            <a:off x="180000" y="1584000"/>
            <a:ext cx="8784000" cy="25400"/>
          </a:xfrm>
          <a:prstGeom prst="rect">
            <a:avLst/>
          </a:prstGeom>
          <a:solidFill>
            <a:srgbClr val="00B0F0"/>
          </a:solidFill>
        </p:spPr>
        <p:txBody>
          <a:bodyPr/>
          <a:lstStyle/>
          <a:p/>
        </p:txBody>
      </p:sp>
      <p:sp>
        <p:nvSpPr>
          <p:cNvPr id="8" name="sp8"/>
          <p:cNvSpPr>
            <a:spLocks noGrp="1"/>
          </p:cNvSpPr>
          <p:nvPr/>
        </p:nvSpPr>
        <p:spPr>
          <a:xfrm>
            <a:off x="180000" y="1655999"/>
            <a:ext cx="8784000" cy="234000"/>
          </a:xfrm>
          <a:prstGeom prst="rect">
            <a:avLst/>
          </a:prstGeom>
          <a:solidFill>
            <a:srgbClr val="17375E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100" dirty="0" b="0" i="0">
                <a:solidFill>
                  <a:srgbClr val="FFFFFF"/>
                </a:solidFill>
                <a:latin typeface="Calibri"/>
              </a:rPr>
              <a:t>ISO/IEC 17025:2017  |  GUM JCGM 100:2008  |  ILAC-G8:2019  |  SANTE/11813  |  EA-4/02</a:t>
            </a:r>
          </a:p>
        </p:txBody>
      </p:sp>
      <p:sp>
        <p:nvSpPr>
          <p:cNvPr id="9" name="sp9"/>
          <p:cNvSpPr>
            <a:spLocks noGrp="1"/>
          </p:cNvSpPr>
          <p:nvPr/>
        </p:nvSpPr>
        <p:spPr>
          <a:xfrm>
            <a:off x="288000" y="1944000"/>
            <a:ext cx="8568000" cy="180000"/>
          </a:xfrm>
          <a:prstGeom prst="rect">
            <a:avLst/>
          </a:prstGeom>
          <a:noFill/>
        </p:spPr>
        <p:txBody>
          <a:bodyPr anchor="t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000" dirty="0" b="0" i="0">
                <a:solidFill>
                  <a:srgbClr val="8DB4E2"/>
                </a:solidFill>
                <a:latin typeface="Calibri"/>
              </a:rPr>
              <a:t>Laboratoriya Sifat Menejeri  •  Metrologik Nazorat Tizimi  •  2025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1" name="sp1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BFF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400" dirty="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" name="sp2"/>
          <p:cNvSpPr>
            <a:spLocks noGrp="1"/>
          </p:cNvSpPr>
          <p:nvPr/>
        </p:nvSpPr>
        <p:spPr>
          <a:xfrm>
            <a:off x="0" y="0"/>
            <a:ext cx="9144000" cy="864000"/>
          </a:xfrm>
          <a:prstGeom prst="rect">
            <a:avLst/>
          </a:prstGeom>
          <a:solidFill>
            <a:srgbClr val="1F3864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400" dirty="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" name="sp3"/>
          <p:cNvSpPr>
            <a:spLocks noGrp="1"/>
          </p:cNvSpPr>
          <p:nvPr/>
        </p:nvSpPr>
        <p:spPr>
          <a:xfrm>
            <a:off x="108000" y="90000"/>
            <a:ext cx="432000" cy="360000"/>
          </a:xfrm>
          <a:prstGeom prst="rect">
            <a:avLst/>
          </a:prstGeom>
          <a:solidFill>
            <a:srgbClr val="00B0F0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2200" dirty="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" name="sp4"/>
          <p:cNvSpPr>
            <a:spLocks noGrp="1"/>
          </p:cNvSpPr>
          <p:nvPr/>
        </p:nvSpPr>
        <p:spPr>
          <a:xfrm>
            <a:off x="648000" y="72000"/>
            <a:ext cx="8316000" cy="432000"/>
          </a:xfrm>
          <a:prstGeom prst="rect">
            <a:avLst/>
          </a:prstGeom>
          <a:noFill/>
        </p:spPr>
        <p:txBody>
          <a:bodyPr anchor="ctr" lIns="91440" tIns="45720" rIns="91440" bIns="45720" wrap="square"/>
          <a:lstStyle/>
          <a:p>
            <a:pPr algn="l" indent="0">
              <a:spcBef>
                <a:spcPts val="0"/>
              </a:spcBef>
              <a:spcAft>
                <a:spcPts val="0"/>
              </a:spcAft>
            </a:pPr>
            <a:r>
              <a:rPr lang="uz-UZ" sz="2200" dirty="0" b="1" i="0">
                <a:solidFill>
                  <a:srgbClr val="FFFFFF"/>
                </a:solidFill>
                <a:latin typeface="Calibri"/>
              </a:rPr>
              <a:t>NOANIQLIK — ASOSIY TUSHUNCHALAR</a:t>
            </a:r>
          </a:p>
        </p:txBody>
      </p:sp>
      <p:sp>
        <p:nvSpPr>
          <p:cNvPr id="5" name="sp5"/>
          <p:cNvSpPr>
            <a:spLocks noGrp="1"/>
          </p:cNvSpPr>
          <p:nvPr/>
        </p:nvSpPr>
        <p:spPr>
          <a:xfrm>
            <a:off x="0" y="864000"/>
            <a:ext cx="9144000" cy="251999"/>
          </a:xfrm>
          <a:prstGeom prst="rect">
            <a:avLst/>
          </a:prstGeom>
          <a:solidFill>
            <a:srgbClr val="2E75B6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000" dirty="0" b="0" i="0">
                <a:solidFill>
                  <a:srgbClr val="FFFFFF"/>
                </a:solidFill>
                <a:latin typeface="Calibri"/>
              </a:rPr>
              <a:t>GUM JCGM 100:2008 | ISO/IEC 17025:2017 Cl.7.6</a:t>
            </a:r>
          </a:p>
        </p:txBody>
      </p:sp>
      <p:sp>
        <p:nvSpPr>
          <p:cNvPr id="6" name="sp6"/>
          <p:cNvSpPr>
            <a:spLocks noGrp="1"/>
          </p:cNvSpPr>
          <p:nvPr/>
        </p:nvSpPr>
        <p:spPr>
          <a:xfrm>
            <a:off x="0" y="4927500"/>
            <a:ext cx="9144000" cy="216000"/>
          </a:xfrm>
          <a:prstGeom prst="rect">
            <a:avLst/>
          </a:prstGeom>
          <a:solidFill>
            <a:srgbClr val="1F3864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800" dirty="0" b="0" i="0">
                <a:solidFill>
                  <a:srgbClr val="FFFFFF"/>
                </a:solidFill>
                <a:latin typeface="Calibri"/>
              </a:rPr>
              <a:t>GUM (2008): 'Measurement uncertainty — parameter characterizing the dispersion of values reasonably attributed to the measurand'</a:t>
            </a:r>
          </a:p>
        </p:txBody>
      </p:sp>
      <p:sp>
        <p:nvSpPr>
          <p:cNvPr id="7" name="sp7"/>
          <p:cNvSpPr>
            <a:spLocks noGrp="1"/>
          </p:cNvSpPr>
          <p:nvPr/>
        </p:nvSpPr>
        <p:spPr>
          <a:xfrm>
            <a:off x="144000" y="1134000"/>
            <a:ext cx="5220000" cy="576000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txBody>
          <a:bodyPr anchor="t" lIns="91440" tIns="45720" rIns="91440" bIns="45720" wrap="square"/>
          <a:lstStyle/>
          <a:p>
            <a:pPr algn="l" indent="0">
              <a:spcBef>
                <a:spcPts val="0"/>
              </a:spcBef>
              <a:spcAft>
                <a:spcPts val="0"/>
              </a:spcAft>
            </a:pPr>
            <a:r>
              <a:rPr lang="uz-UZ" sz="1100" dirty="0" b="0" i="0">
                <a:solidFill>
                  <a:srgbClr val="1F3864"/>
                </a:solidFill>
                <a:latin typeface="Calibri"/>
              </a:rPr>
              <a:t>Ta'rif (GUM §2.2.3):</a:t>
            </a:r>
          </a:p>
          <a:p>
            <a:pPr algn="l" indent="0">
              <a:spcBef>
                <a:spcPts val="0"/>
              </a:spcBef>
              <a:spcAft>
                <a:spcPts val="0"/>
              </a:spcAft>
            </a:pPr>
            <a:r>
              <a:rPr lang="uz-UZ" sz="1100" dirty="0" b="0" i="0">
                <a:solidFill>
                  <a:srgbClr val="1F3864"/>
                </a:solidFill>
                <a:latin typeface="Calibri"/>
              </a:rPr>
              <a:t>«O'lchov noaniqlik — o'lchanayotgan kattalikka asosli ravishda</a:t>
            </a:r>
          </a:p>
          <a:p>
            <a:pPr algn="l" indent="0">
              <a:spcBef>
                <a:spcPts val="0"/>
              </a:spcBef>
              <a:spcAft>
                <a:spcPts val="0"/>
              </a:spcAft>
            </a:pPr>
            <a:r>
              <a:rPr lang="uz-UZ" sz="1100" dirty="0" b="0" i="0">
                <a:solidFill>
                  <a:srgbClr val="1F3864"/>
                </a:solidFill>
                <a:latin typeface="Calibri"/>
              </a:rPr>
              <a:t>nisblash mumkin bo'lgan qiymatlar tarqalishini tavsifluvchi parametr»</a:t>
            </a:r>
          </a:p>
        </p:txBody>
      </p:sp>
      <p:sp>
        <p:nvSpPr>
          <p:cNvPr id="8" name="sp8"/>
          <p:cNvSpPr>
            <a:spLocks noGrp="1"/>
          </p:cNvSpPr>
          <p:nvPr/>
        </p:nvSpPr>
        <p:spPr>
          <a:xfrm>
            <a:off x="144000" y="1134000"/>
            <a:ext cx="2808000" cy="1044000"/>
          </a:xfrm>
          <a:prstGeom prst="rect">
            <a:avLst/>
          </a:prstGeom>
          <a:solidFill>
            <a:srgbClr val="2E75B6"/>
          </a:solidFill>
        </p:spPr>
        <p:txBody>
          <a:bodyPr anchor="t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300" dirty="0" b="1" i="0">
                <a:solidFill>
                  <a:srgbClr val="FFFFFF"/>
                </a:solidFill>
                <a:latin typeface="Calibri"/>
              </a:rPr>
              <a:t>XATO ≠ NOANIQLIK</a:t>
            </a:r>
          </a:p>
        </p:txBody>
      </p:sp>
      <p:sp>
        <p:nvSpPr>
          <p:cNvPr id="9" name="sp9"/>
          <p:cNvSpPr>
            <a:spLocks noGrp="1"/>
          </p:cNvSpPr>
          <p:nvPr/>
        </p:nvSpPr>
        <p:spPr>
          <a:xfrm>
            <a:off x="216000" y="1422000"/>
            <a:ext cx="2664000" cy="720000"/>
          </a:xfrm>
          <a:prstGeom prst="rect">
            <a:avLst/>
          </a:prstGeom>
          <a:noFill/>
        </p:spPr>
        <p:txBody>
          <a:bodyPr anchor="t" lIns="91440" tIns="45720" rIns="91440" bIns="45720" wrap="square"/>
          <a:lstStyle/>
          <a:p>
            <a:pPr algn="l" indent="0">
              <a:spcBef>
                <a:spcPts val="0"/>
              </a:spcBef>
              <a:spcAft>
                <a:spcPts val="0"/>
              </a:spcAft>
            </a:pPr>
            <a:r>
              <a:rPr lang="uz-UZ" sz="1100" dirty="0" b="0" i="0">
                <a:solidFill>
                  <a:srgbClr val="FFFFFF"/>
                </a:solidFill>
                <a:latin typeface="Calibri"/>
              </a:rPr>
              <a:t>Xato — aniq ma'lum farq</a:t>
            </a:r>
          </a:p>
          <a:p>
            <a:pPr algn="l" indent="0">
              <a:spcBef>
                <a:spcPts val="0"/>
              </a:spcBef>
              <a:spcAft>
                <a:spcPts val="0"/>
              </a:spcAft>
            </a:pPr>
            <a:r>
              <a:rPr lang="uz-UZ" sz="1100" dirty="0" b="0" i="0">
                <a:solidFill>
                  <a:srgbClr val="FFFFFF"/>
                </a:solidFill>
                <a:latin typeface="Calibri"/>
              </a:rPr>
              <a:t>Noaniqlik — mumkin bo'lgan</a:t>
            </a:r>
          </a:p>
          <a:p>
            <a:pPr algn="l" indent="0">
              <a:spcBef>
                <a:spcPts val="0"/>
              </a:spcBef>
              <a:spcAft>
                <a:spcPts val="0"/>
              </a:spcAft>
            </a:pPr>
            <a:r>
              <a:rPr lang="uz-UZ" sz="1100" dirty="0" b="0" i="0">
                <a:solidFill>
                  <a:srgbClr val="FFFFFF"/>
                </a:solidFill>
                <a:latin typeface="Calibri"/>
              </a:rPr>
              <a:t>farqlar oralig'i</a:t>
            </a:r>
          </a:p>
        </p:txBody>
      </p:sp>
      <p:sp>
        <p:nvSpPr>
          <p:cNvPr id="10" name="sp10"/>
          <p:cNvSpPr>
            <a:spLocks noGrp="1"/>
          </p:cNvSpPr>
          <p:nvPr/>
        </p:nvSpPr>
        <p:spPr>
          <a:xfrm>
            <a:off x="3096000" y="1134000"/>
            <a:ext cx="2808000" cy="1044000"/>
          </a:xfrm>
          <a:prstGeom prst="rect">
            <a:avLst/>
          </a:prstGeom>
          <a:solidFill>
            <a:srgbClr val="375623"/>
          </a:solidFill>
        </p:spPr>
        <p:txBody>
          <a:bodyPr anchor="t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300" dirty="0" b="1" i="0">
                <a:solidFill>
                  <a:srgbClr val="FFFFFF"/>
                </a:solidFill>
                <a:latin typeface="Calibri"/>
              </a:rPr>
              <a:t>NIMA UCHUN KERAK?</a:t>
            </a:r>
          </a:p>
        </p:txBody>
      </p:sp>
      <p:sp>
        <p:nvSpPr>
          <p:cNvPr id="11" name="sp11"/>
          <p:cNvSpPr>
            <a:spLocks noGrp="1"/>
          </p:cNvSpPr>
          <p:nvPr/>
        </p:nvSpPr>
        <p:spPr>
          <a:xfrm>
            <a:off x="3168000" y="1422000"/>
            <a:ext cx="2664000" cy="720000"/>
          </a:xfrm>
          <a:prstGeom prst="rect">
            <a:avLst/>
          </a:prstGeom>
          <a:noFill/>
        </p:spPr>
        <p:txBody>
          <a:bodyPr anchor="t" lIns="91440" tIns="45720" rIns="91440" bIns="45720" wrap="square"/>
          <a:lstStyle/>
          <a:p>
            <a:pPr algn="l" indent="0">
              <a:spcBef>
                <a:spcPts val="0"/>
              </a:spcBef>
              <a:spcAft>
                <a:spcPts val="0"/>
              </a:spcAft>
            </a:pPr>
            <a:r>
              <a:rPr lang="uz-UZ" sz="1100" dirty="0" b="0" i="0">
                <a:solidFill>
                  <a:srgbClr val="FFFFFF"/>
                </a:solidFill>
                <a:latin typeface="Calibri"/>
              </a:rPr>
              <a:t>• Natija to'g'riligini isbotlash</a:t>
            </a:r>
          </a:p>
          <a:p>
            <a:pPr algn="l" indent="0">
              <a:spcBef>
                <a:spcPts val="0"/>
              </a:spcBef>
              <a:spcAft>
                <a:spcPts val="0"/>
              </a:spcAft>
            </a:pPr>
            <a:r>
              <a:rPr lang="uz-UZ" sz="1100" dirty="0" b="0" i="0">
                <a:solidFill>
                  <a:srgbClr val="FFFFFF"/>
                </a:solidFill>
                <a:latin typeface="Calibri"/>
              </a:rPr>
              <a:t>• Qarorni asoslash</a:t>
            </a:r>
          </a:p>
          <a:p>
            <a:pPr algn="l" indent="0">
              <a:spcBef>
                <a:spcPts val="0"/>
              </a:spcBef>
              <a:spcAft>
                <a:spcPts val="0"/>
              </a:spcAft>
            </a:pPr>
            <a:r>
              <a:rPr lang="uz-UZ" sz="1100" dirty="0" b="0" i="0">
                <a:solidFill>
                  <a:srgbClr val="FFFFFF"/>
                </a:solidFill>
                <a:latin typeface="Calibri"/>
              </a:rPr>
              <a:t>• ISO 17025 talabi</a:t>
            </a:r>
          </a:p>
        </p:txBody>
      </p:sp>
      <p:sp>
        <p:nvSpPr>
          <p:cNvPr id="12" name="sp12"/>
          <p:cNvSpPr>
            <a:spLocks noGrp="1"/>
          </p:cNvSpPr>
          <p:nvPr/>
        </p:nvSpPr>
        <p:spPr>
          <a:xfrm>
            <a:off x="144000" y="2268000"/>
            <a:ext cx="8856000" cy="486000"/>
          </a:xfrm>
          <a:prstGeom prst="rect">
            <a:avLst/>
          </a:prstGeom>
          <a:solidFill>
            <a:srgbClr val="1F3864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500" dirty="0" b="1" i="0">
                <a:solidFill>
                  <a:srgbClr val="FFFFFF"/>
                </a:solidFill>
                <a:latin typeface="Calibri"/>
              </a:rPr>
              <a:t>U = k × u_c    →    Natija = x̄ ± U [birlik]   (k=2, ~95% ishonch oralig'i)</a:t>
            </a:r>
          </a:p>
        </p:txBody>
      </p:sp>
      <p:sp>
        <p:nvSpPr>
          <p:cNvPr id="13" name="sp13"/>
          <p:cNvSpPr>
            <a:spLocks noGrp="1"/>
          </p:cNvSpPr>
          <p:nvPr/>
        </p:nvSpPr>
        <p:spPr>
          <a:xfrm>
            <a:off x="3096000" y="1134000"/>
            <a:ext cx="2808000" cy="1044000"/>
          </a:xfrm>
          <a:prstGeom prst="rect">
            <a:avLst/>
          </a:prstGeom>
          <a:solidFill>
            <a:srgbClr val="2E75B6"/>
          </a:solidFill>
          <a:ln>
            <a:solidFill>
              <a:srgbClr val="CCCCCC"/>
            </a:solidFill>
          </a:ln>
        </p:spPr>
        <p:txBody>
          <a:bodyPr anchor="t" lIns="108000" tIns="72000" rIns="108000" bIns="72000" wrap="square"/>
          <a:lstStyle/>
          <a:p>
            <a:pPr algn="l" indent="0">
              <a:spcBef>
                <a:spcPts val="300"/>
              </a:spcBef>
              <a:spcAft>
                <a:spcPts val="300"/>
              </a:spcAft>
            </a:pPr>
            <a:r>
              <a:rPr lang="uz-UZ" sz="1000" dirty="0" b="1" i="0">
                <a:solidFill>
                  <a:srgbClr val="FFD966"/>
                </a:solidFill>
                <a:latin typeface="Calibri"/>
              </a:rPr>
              <a:t>• </a:t>
            </a:r>
            <a:r>
              <a:rPr lang="uz-UZ" sz="1000" dirty="0" b="0" i="0">
                <a:solidFill>
                  <a:srgbClr val="FFFFFF"/>
                </a:solidFill>
                <a:latin typeface="Calibri"/>
              </a:rPr>
              <a:t>U hisoblash majburiy (ISO 17025)</a:t>
            </a:r>
          </a:p>
          <a:p>
            <a:pPr algn="l" indent="0">
              <a:spcBef>
                <a:spcPts val="300"/>
              </a:spcBef>
              <a:spcAft>
                <a:spcPts val="300"/>
              </a:spcAft>
            </a:pPr>
            <a:r>
              <a:rPr lang="uz-UZ" sz="1000" dirty="0" b="1" i="0">
                <a:solidFill>
                  <a:srgbClr val="FFD966"/>
                </a:solidFill>
                <a:latin typeface="Calibri"/>
              </a:rPr>
              <a:t>• </a:t>
            </a:r>
            <a:r>
              <a:rPr lang="uz-UZ" sz="1000" dirty="0" b="0" i="0">
                <a:solidFill>
                  <a:srgbClr val="FFFFFF"/>
                </a:solidFill>
                <a:latin typeface="Calibri"/>
              </a:rPr>
              <a:t>Hisobotda: x̄ ± U (k=2) ko'rinishida</a:t>
            </a:r>
          </a:p>
          <a:p>
            <a:pPr algn="l" indent="0">
              <a:spcBef>
                <a:spcPts val="300"/>
              </a:spcBef>
              <a:spcAft>
                <a:spcPts val="300"/>
              </a:spcAft>
            </a:pPr>
            <a:r>
              <a:rPr lang="uz-UZ" sz="1000" dirty="0" b="1" i="0">
                <a:solidFill>
                  <a:srgbClr val="FFD966"/>
                </a:solidFill>
                <a:latin typeface="Calibri"/>
              </a:rPr>
              <a:t>• </a:t>
            </a:r>
            <a:r>
              <a:rPr lang="uz-UZ" sz="1000" dirty="0" b="0" i="0">
                <a:solidFill>
                  <a:srgbClr val="FFFFFF"/>
                </a:solidFill>
                <a:latin typeface="Calibri"/>
              </a:rPr>
              <a:t>U &gt; 1/3×tolerans → metod yaroqsiz</a:t>
            </a:r>
          </a:p>
          <a:p>
            <a:pPr algn="l" indent="0">
              <a:spcBef>
                <a:spcPts val="300"/>
              </a:spcBef>
              <a:spcAft>
                <a:spcPts val="300"/>
              </a:spcAft>
            </a:pPr>
            <a:r>
              <a:rPr lang="uz-UZ" sz="1000" dirty="0" b="1" i="0">
                <a:solidFill>
                  <a:srgbClr val="FFD966"/>
                </a:solidFill>
                <a:latin typeface="Calibri"/>
              </a:rPr>
              <a:t>• </a:t>
            </a:r>
            <a:r>
              <a:rPr lang="uz-UZ" sz="1000" dirty="0" b="0" i="0">
                <a:solidFill>
                  <a:srgbClr val="FFFFFF"/>
                </a:solidFill>
                <a:latin typeface="Calibri"/>
              </a:rPr>
              <a:t>Kuzatilish zanjiri talab qilinadi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1" name="sp1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BFF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400" dirty="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" name="sp2"/>
          <p:cNvSpPr>
            <a:spLocks noGrp="1"/>
          </p:cNvSpPr>
          <p:nvPr/>
        </p:nvSpPr>
        <p:spPr>
          <a:xfrm>
            <a:off x="0" y="0"/>
            <a:ext cx="9144000" cy="864000"/>
          </a:xfrm>
          <a:prstGeom prst="rect">
            <a:avLst/>
          </a:prstGeom>
          <a:solidFill>
            <a:srgbClr val="1F3864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400" dirty="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" name="sp3"/>
          <p:cNvSpPr>
            <a:spLocks noGrp="1"/>
          </p:cNvSpPr>
          <p:nvPr/>
        </p:nvSpPr>
        <p:spPr>
          <a:xfrm>
            <a:off x="108000" y="90000"/>
            <a:ext cx="432000" cy="360000"/>
          </a:xfrm>
          <a:prstGeom prst="rect">
            <a:avLst/>
          </a:prstGeom>
          <a:solidFill>
            <a:srgbClr val="00B0F0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2200" dirty="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" name="sp4"/>
          <p:cNvSpPr>
            <a:spLocks noGrp="1"/>
          </p:cNvSpPr>
          <p:nvPr/>
        </p:nvSpPr>
        <p:spPr>
          <a:xfrm>
            <a:off x="648000" y="72000"/>
            <a:ext cx="8316000" cy="432000"/>
          </a:xfrm>
          <a:prstGeom prst="rect">
            <a:avLst/>
          </a:prstGeom>
          <a:noFill/>
        </p:spPr>
        <p:txBody>
          <a:bodyPr anchor="ctr" lIns="91440" tIns="45720" rIns="91440" bIns="45720" wrap="square"/>
          <a:lstStyle/>
          <a:p>
            <a:pPr algn="l" indent="0">
              <a:spcBef>
                <a:spcPts val="0"/>
              </a:spcBef>
              <a:spcAft>
                <a:spcPts val="0"/>
              </a:spcAft>
            </a:pPr>
            <a:r>
              <a:rPr lang="uz-UZ" sz="2200" dirty="0" b="1" i="0">
                <a:solidFill>
                  <a:srgbClr val="FFFFFF"/>
                </a:solidFill>
                <a:latin typeface="Calibri"/>
              </a:rPr>
              <a:t>NOANIQLIK MANBALARI — BALIQ SUYAGI DIAGRAMMASI</a:t>
            </a:r>
          </a:p>
        </p:txBody>
      </p:sp>
      <p:sp>
        <p:nvSpPr>
          <p:cNvPr id="5" name="sp5"/>
          <p:cNvSpPr>
            <a:spLocks noGrp="1"/>
          </p:cNvSpPr>
          <p:nvPr/>
        </p:nvSpPr>
        <p:spPr>
          <a:xfrm>
            <a:off x="0" y="864000"/>
            <a:ext cx="9144000" cy="251999"/>
          </a:xfrm>
          <a:prstGeom prst="rect">
            <a:avLst/>
          </a:prstGeom>
          <a:solidFill>
            <a:srgbClr val="2E75B6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000" dirty="0" b="0" i="0">
                <a:solidFill>
                  <a:srgbClr val="FFFFFF"/>
                </a:solidFill>
                <a:latin typeface="Calibri"/>
              </a:rPr>
              <a:t>EURACHEM/CITAC CG4 | Bottom-up yondashuv | ISO/IEC 17025 Cl.7.6.2</a:t>
            </a:r>
          </a:p>
        </p:txBody>
      </p:sp>
      <p:sp>
        <p:nvSpPr>
          <p:cNvPr id="6" name="sp6"/>
          <p:cNvSpPr>
            <a:spLocks noGrp="1"/>
          </p:cNvSpPr>
          <p:nvPr/>
        </p:nvSpPr>
        <p:spPr>
          <a:xfrm>
            <a:off x="0" y="4927500"/>
            <a:ext cx="9144000" cy="216000"/>
          </a:xfrm>
          <a:prstGeom prst="rect">
            <a:avLst/>
          </a:prstGeom>
          <a:solidFill>
            <a:srgbClr val="1F3864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800" dirty="0" b="0" i="0">
                <a:solidFill>
                  <a:srgbClr val="FFFFFF"/>
                </a:solidFill>
                <a:latin typeface="Calibri"/>
              </a:rPr>
              <a:t>Har bir manba u(xi) sifatida miqdorlanadi va kvadrat yig'indisi orqali uc ga qo'shiladi</a:t>
            </a:r>
          </a:p>
        </p:txBody>
      </p:sp>
      <p:sp>
        <p:nvSpPr>
          <p:cNvPr id="7" name="sp7"/>
          <p:cNvSpPr>
            <a:spLocks noGrp="1"/>
          </p:cNvSpPr>
          <p:nvPr/>
        </p:nvSpPr>
        <p:spPr>
          <a:xfrm>
            <a:off x="1260000" y="2088000"/>
            <a:ext cx="6552000" cy="198000"/>
          </a:xfrm>
          <a:prstGeom prst="rect">
            <a:avLst/>
          </a:prstGeom>
          <a:solidFill>
            <a:srgbClr val="C00000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200" dirty="0" b="1" i="0">
                <a:solidFill>
                  <a:srgbClr val="FFFFFF"/>
                </a:solidFill>
                <a:latin typeface="Calibri"/>
              </a:rPr>
              <a:t>➤  UMUMIY NOANIQLIK  uc</a:t>
            </a:r>
          </a:p>
        </p:txBody>
      </p:sp>
      <p:sp>
        <p:nvSpPr>
          <p:cNvPr id="8" name="sp8"/>
          <p:cNvSpPr>
            <a:spLocks noGrp="1"/>
          </p:cNvSpPr>
          <p:nvPr/>
        </p:nvSpPr>
        <p:spPr>
          <a:xfrm>
            <a:off x="108000" y="1116000"/>
            <a:ext cx="2700000" cy="864000"/>
          </a:xfrm>
          <a:prstGeom prst="rect">
            <a:avLst/>
          </a:prstGeom>
          <a:solidFill>
            <a:srgbClr val="2E75B6"/>
          </a:solidFill>
        </p:spPr>
        <p:txBody>
          <a:bodyPr anchor="t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100" dirty="0" b="1" i="0">
                <a:solidFill>
                  <a:srgbClr val="FFFFFF"/>
                </a:solidFill>
                <a:latin typeface="Calibri"/>
              </a:rPr>
              <a:t>1. STANDARTLAR</a:t>
            </a:r>
          </a:p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100" dirty="0" b="1" i="0">
                <a:solidFill>
                  <a:srgbClr val="FFFFFF"/>
                </a:solidFill>
                <a:latin typeface="Calibri"/>
              </a:rPr>
              <a:t>&amp; CRM</a:t>
            </a:r>
          </a:p>
        </p:txBody>
      </p:sp>
      <p:sp>
        <p:nvSpPr>
          <p:cNvPr id="9" name="sp9"/>
          <p:cNvSpPr>
            <a:spLocks noGrp="1"/>
          </p:cNvSpPr>
          <p:nvPr/>
        </p:nvSpPr>
        <p:spPr>
          <a:xfrm>
            <a:off x="180000" y="1386000"/>
            <a:ext cx="2556000" cy="576000"/>
          </a:xfrm>
          <a:prstGeom prst="rect">
            <a:avLst/>
          </a:prstGeom>
          <a:noFill/>
        </p:spPr>
        <p:txBody>
          <a:bodyPr anchor="t" lIns="91440" tIns="45720" rIns="91440" bIns="45720" wrap="square"/>
          <a:lstStyle/>
          <a:p>
            <a:pPr algn="l" indent="0">
              <a:spcBef>
                <a:spcPts val="0"/>
              </a:spcBef>
              <a:spcAft>
                <a:spcPts val="0"/>
              </a:spcAft>
            </a:pPr>
            <a:r>
              <a:rPr lang="uz-UZ" sz="900" dirty="0" b="0" i="0">
                <a:solidFill>
                  <a:srgbClr val="FFFFFF"/>
                </a:solidFill>
                <a:latin typeface="Calibri"/>
              </a:rPr>
              <a:t>• Sertifikat sof.(%)</a:t>
            </a:r>
          </a:p>
          <a:p>
            <a:pPr algn="l" indent="0">
              <a:spcBef>
                <a:spcPts val="0"/>
              </a:spcBef>
              <a:spcAft>
                <a:spcPts val="0"/>
              </a:spcAft>
            </a:pPr>
            <a:r>
              <a:rPr lang="uz-UZ" sz="900" dirty="0" b="0" i="0">
                <a:solidFill>
                  <a:srgbClr val="FFFFFF"/>
                </a:solidFill>
                <a:latin typeface="Calibri"/>
              </a:rPr>
              <a:t>• Lot-to-lot o'zgarish</a:t>
            </a:r>
          </a:p>
          <a:p>
            <a:pPr algn="l" indent="0">
              <a:spcBef>
                <a:spcPts val="0"/>
              </a:spcBef>
              <a:spcAft>
                <a:spcPts val="0"/>
              </a:spcAft>
            </a:pPr>
            <a:r>
              <a:rPr lang="uz-UZ" sz="900" dirty="0" b="0" i="0">
                <a:solidFill>
                  <a:srgbClr val="FFFFFF"/>
                </a:solidFill>
                <a:latin typeface="Calibri"/>
              </a:rPr>
              <a:t>• Saqlash sharoiti</a:t>
            </a:r>
          </a:p>
        </p:txBody>
      </p:sp>
      <p:sp>
        <p:nvSpPr>
          <p:cNvPr id="10" name="sp10"/>
          <p:cNvSpPr>
            <a:spLocks noGrp="1"/>
          </p:cNvSpPr>
          <p:nvPr/>
        </p:nvSpPr>
        <p:spPr>
          <a:xfrm>
            <a:off x="3060000" y="1116000"/>
            <a:ext cx="2700000" cy="864000"/>
          </a:xfrm>
          <a:prstGeom prst="rect">
            <a:avLst/>
          </a:prstGeom>
          <a:solidFill>
            <a:srgbClr val="7030A0"/>
          </a:solidFill>
        </p:spPr>
        <p:txBody>
          <a:bodyPr anchor="t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100" dirty="0" b="1" i="0">
                <a:solidFill>
                  <a:srgbClr val="FFFFFF"/>
                </a:solidFill>
                <a:latin typeface="Calibri"/>
              </a:rPr>
              <a:t>2. TAROZILASH</a:t>
            </a:r>
          </a:p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100" dirty="0" b="1" i="0">
                <a:solidFill>
                  <a:srgbClr val="FFFFFF"/>
                </a:solidFill>
                <a:latin typeface="Calibri"/>
              </a:rPr>
              <a:t>&amp; HAJM</a:t>
            </a:r>
          </a:p>
        </p:txBody>
      </p:sp>
      <p:sp>
        <p:nvSpPr>
          <p:cNvPr id="11" name="sp11"/>
          <p:cNvSpPr>
            <a:spLocks noGrp="1"/>
          </p:cNvSpPr>
          <p:nvPr/>
        </p:nvSpPr>
        <p:spPr>
          <a:xfrm>
            <a:off x="3132000" y="1386000"/>
            <a:ext cx="2556000" cy="576000"/>
          </a:xfrm>
          <a:prstGeom prst="rect">
            <a:avLst/>
          </a:prstGeom>
          <a:noFill/>
        </p:spPr>
        <p:txBody>
          <a:bodyPr anchor="t" lIns="91440" tIns="45720" rIns="91440" bIns="45720" wrap="square"/>
          <a:lstStyle/>
          <a:p>
            <a:pPr algn="l" indent="0">
              <a:spcBef>
                <a:spcPts val="0"/>
              </a:spcBef>
              <a:spcAft>
                <a:spcPts val="0"/>
              </a:spcAft>
            </a:pPr>
            <a:r>
              <a:rPr lang="uz-UZ" sz="900" dirty="0" b="0" i="0">
                <a:solidFill>
                  <a:srgbClr val="FFFFFF"/>
                </a:solidFill>
                <a:latin typeface="Calibri"/>
              </a:rPr>
              <a:t>• Tarozilay og'ishi</a:t>
            </a:r>
          </a:p>
          <a:p>
            <a:pPr algn="l" indent="0">
              <a:spcBef>
                <a:spcPts val="0"/>
              </a:spcBef>
              <a:spcAft>
                <a:spcPts val="0"/>
              </a:spcAft>
            </a:pPr>
            <a:r>
              <a:rPr lang="uz-UZ" sz="900" dirty="0" b="0" i="0">
                <a:solidFill>
                  <a:srgbClr val="FFFFFF"/>
                </a:solidFill>
                <a:latin typeface="Calibri"/>
              </a:rPr>
              <a:t>• Pipetka/kolba sertif.</a:t>
            </a:r>
          </a:p>
          <a:p>
            <a:pPr algn="l" indent="0">
              <a:spcBef>
                <a:spcPts val="0"/>
              </a:spcBef>
              <a:spcAft>
                <a:spcPts val="0"/>
              </a:spcAft>
            </a:pPr>
            <a:r>
              <a:rPr lang="uz-UZ" sz="900" dirty="0" b="0" i="0">
                <a:solidFill>
                  <a:srgbClr val="FFFFFF"/>
                </a:solidFill>
                <a:latin typeface="Calibri"/>
              </a:rPr>
              <a:t>• Harorat ta'siri</a:t>
            </a:r>
          </a:p>
        </p:txBody>
      </p:sp>
      <p:sp>
        <p:nvSpPr>
          <p:cNvPr id="12" name="sp12"/>
          <p:cNvSpPr>
            <a:spLocks noGrp="1"/>
          </p:cNvSpPr>
          <p:nvPr/>
        </p:nvSpPr>
        <p:spPr>
          <a:xfrm>
            <a:off x="6012000" y="1116000"/>
            <a:ext cx="2700000" cy="864000"/>
          </a:xfrm>
          <a:prstGeom prst="rect">
            <a:avLst/>
          </a:prstGeom>
          <a:solidFill>
            <a:srgbClr val="375623"/>
          </a:solidFill>
        </p:spPr>
        <p:txBody>
          <a:bodyPr anchor="t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100" dirty="0" b="1" i="0">
                <a:solidFill>
                  <a:srgbClr val="FFFFFF"/>
                </a:solidFill>
                <a:latin typeface="Calibri"/>
              </a:rPr>
              <a:t>3. EKSTRAKSIYA</a:t>
            </a:r>
          </a:p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100" dirty="0" b="1" i="0">
                <a:solidFill>
                  <a:srgbClr val="FFFFFF"/>
                </a:solidFill>
                <a:latin typeface="Calibri"/>
              </a:rPr>
              <a:t>&amp; TAYYORLASH</a:t>
            </a:r>
          </a:p>
        </p:txBody>
      </p:sp>
      <p:sp>
        <p:nvSpPr>
          <p:cNvPr id="13" name="sp13"/>
          <p:cNvSpPr>
            <a:spLocks noGrp="1"/>
          </p:cNvSpPr>
          <p:nvPr/>
        </p:nvSpPr>
        <p:spPr>
          <a:xfrm>
            <a:off x="6084000" y="1386000"/>
            <a:ext cx="2556000" cy="576000"/>
          </a:xfrm>
          <a:prstGeom prst="rect">
            <a:avLst/>
          </a:prstGeom>
          <a:noFill/>
        </p:spPr>
        <p:txBody>
          <a:bodyPr anchor="t" lIns="91440" tIns="45720" rIns="91440" bIns="45720" wrap="square"/>
          <a:lstStyle/>
          <a:p>
            <a:pPr algn="l" indent="0">
              <a:spcBef>
                <a:spcPts val="0"/>
              </a:spcBef>
              <a:spcAft>
                <a:spcPts val="0"/>
              </a:spcAft>
            </a:pPr>
            <a:r>
              <a:rPr lang="uz-UZ" sz="900" dirty="0" b="0" i="0">
                <a:solidFill>
                  <a:srgbClr val="FFFFFF"/>
                </a:solidFill>
                <a:latin typeface="Calibri"/>
              </a:rPr>
              <a:t>• Recovery o'zgarishi</a:t>
            </a:r>
          </a:p>
          <a:p>
            <a:pPr algn="l" indent="0">
              <a:spcBef>
                <a:spcPts val="0"/>
              </a:spcBef>
              <a:spcAft>
                <a:spcPts val="0"/>
              </a:spcAft>
            </a:pPr>
            <a:r>
              <a:rPr lang="uz-UZ" sz="900" dirty="0" b="0" i="0">
                <a:solidFill>
                  <a:srgbClr val="FFFFFF"/>
                </a:solidFill>
                <a:latin typeface="Calibri"/>
              </a:rPr>
              <a:t>• SPE/LLE unumi</a:t>
            </a:r>
          </a:p>
          <a:p>
            <a:pPr algn="l" indent="0">
              <a:spcBef>
                <a:spcPts val="0"/>
              </a:spcBef>
              <a:spcAft>
                <a:spcPts val="0"/>
              </a:spcAft>
            </a:pPr>
            <a:r>
              <a:rPr lang="uz-UZ" sz="900" dirty="0" b="0" i="0">
                <a:solidFill>
                  <a:srgbClr val="FFFFFF"/>
                </a:solidFill>
                <a:latin typeface="Calibri"/>
              </a:rPr>
              <a:t>• Matritsa ta'siri</a:t>
            </a:r>
          </a:p>
        </p:txBody>
      </p:sp>
      <p:sp>
        <p:nvSpPr>
          <p:cNvPr id="14" name="sp14"/>
          <p:cNvSpPr>
            <a:spLocks noGrp="1"/>
          </p:cNvSpPr>
          <p:nvPr/>
        </p:nvSpPr>
        <p:spPr>
          <a:xfrm>
            <a:off x="108000" y="2322000"/>
            <a:ext cx="2700000" cy="864000"/>
          </a:xfrm>
          <a:prstGeom prst="rect">
            <a:avLst/>
          </a:prstGeom>
          <a:solidFill>
            <a:srgbClr val="C55A11"/>
          </a:solidFill>
        </p:spPr>
        <p:txBody>
          <a:bodyPr anchor="t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100" dirty="0" b="1" i="0">
                <a:solidFill>
                  <a:srgbClr val="FFFFFF"/>
                </a:solidFill>
                <a:latin typeface="Calibri"/>
              </a:rPr>
              <a:t>4. ASBOB</a:t>
            </a:r>
          </a:p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100" dirty="0" b="1" i="0">
                <a:solidFill>
                  <a:srgbClr val="FFFFFF"/>
                </a:solidFill>
                <a:latin typeface="Calibri"/>
              </a:rPr>
              <a:t>JAVOBI</a:t>
            </a:r>
          </a:p>
        </p:txBody>
      </p:sp>
      <p:sp>
        <p:nvSpPr>
          <p:cNvPr id="15" name="sp15"/>
          <p:cNvSpPr>
            <a:spLocks noGrp="1"/>
          </p:cNvSpPr>
          <p:nvPr/>
        </p:nvSpPr>
        <p:spPr>
          <a:xfrm>
            <a:off x="180000" y="2592000"/>
            <a:ext cx="2556000" cy="576000"/>
          </a:xfrm>
          <a:prstGeom prst="rect">
            <a:avLst/>
          </a:prstGeom>
          <a:noFill/>
        </p:spPr>
        <p:txBody>
          <a:bodyPr anchor="t" lIns="91440" tIns="45720" rIns="91440" bIns="45720" wrap="square"/>
          <a:lstStyle/>
          <a:p>
            <a:pPr algn="l" indent="0">
              <a:spcBef>
                <a:spcPts val="0"/>
              </a:spcBef>
              <a:spcAft>
                <a:spcPts val="0"/>
              </a:spcAft>
            </a:pPr>
            <a:r>
              <a:rPr lang="uz-UZ" sz="900" dirty="0" b="0" i="0">
                <a:solidFill>
                  <a:srgbClr val="FFFFFF"/>
                </a:solidFill>
                <a:latin typeface="Calibri"/>
              </a:rPr>
              <a:t>• Kalibrasiya aniqligi</a:t>
            </a:r>
          </a:p>
          <a:p>
            <a:pPr algn="l" indent="0">
              <a:spcBef>
                <a:spcPts val="0"/>
              </a:spcBef>
              <a:spcAft>
                <a:spcPts val="0"/>
              </a:spcAft>
            </a:pPr>
            <a:r>
              <a:rPr lang="uz-UZ" sz="900" dirty="0" b="0" i="0">
                <a:solidFill>
                  <a:srgbClr val="FFFFFF"/>
                </a:solidFill>
                <a:latin typeface="Calibri"/>
              </a:rPr>
              <a:t>• Detektor barqarorligi</a:t>
            </a:r>
          </a:p>
          <a:p>
            <a:pPr algn="l" indent="0">
              <a:spcBef>
                <a:spcPts val="0"/>
              </a:spcBef>
              <a:spcAft>
                <a:spcPts val="0"/>
              </a:spcAft>
            </a:pPr>
            <a:r>
              <a:rPr lang="uz-UZ" sz="900" dirty="0" b="0" i="0">
                <a:solidFill>
                  <a:srgbClr val="FFFFFF"/>
                </a:solidFill>
                <a:latin typeface="Calibri"/>
              </a:rPr>
              <a:t>• MS ion suppression</a:t>
            </a:r>
          </a:p>
        </p:txBody>
      </p:sp>
      <p:sp>
        <p:nvSpPr>
          <p:cNvPr id="16" name="sp16"/>
          <p:cNvSpPr>
            <a:spLocks noGrp="1"/>
          </p:cNvSpPr>
          <p:nvPr/>
        </p:nvSpPr>
        <p:spPr>
          <a:xfrm>
            <a:off x="3060000" y="2322000"/>
            <a:ext cx="2700000" cy="864000"/>
          </a:xfrm>
          <a:prstGeom prst="rect">
            <a:avLst/>
          </a:prstGeom>
          <a:solidFill>
            <a:srgbClr val="1F3864"/>
          </a:solidFill>
        </p:spPr>
        <p:txBody>
          <a:bodyPr anchor="t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100" dirty="0" b="1" i="0">
                <a:solidFill>
                  <a:srgbClr val="FFFFFF"/>
                </a:solidFill>
                <a:latin typeface="Calibri"/>
              </a:rPr>
              <a:t>5. ATROF-MUHIT</a:t>
            </a:r>
          </a:p>
        </p:txBody>
      </p:sp>
      <p:sp>
        <p:nvSpPr>
          <p:cNvPr id="17" name="sp17"/>
          <p:cNvSpPr>
            <a:spLocks noGrp="1"/>
          </p:cNvSpPr>
          <p:nvPr/>
        </p:nvSpPr>
        <p:spPr>
          <a:xfrm>
            <a:off x="3132000" y="2592000"/>
            <a:ext cx="2556000" cy="576000"/>
          </a:xfrm>
          <a:prstGeom prst="rect">
            <a:avLst/>
          </a:prstGeom>
          <a:noFill/>
        </p:spPr>
        <p:txBody>
          <a:bodyPr anchor="t" lIns="91440" tIns="45720" rIns="91440" bIns="45720" wrap="square"/>
          <a:lstStyle/>
          <a:p>
            <a:pPr algn="l" indent="0">
              <a:spcBef>
                <a:spcPts val="0"/>
              </a:spcBef>
              <a:spcAft>
                <a:spcPts val="0"/>
              </a:spcAft>
            </a:pPr>
            <a:r>
              <a:rPr lang="uz-UZ" sz="900" dirty="0" b="0" i="0">
                <a:solidFill>
                  <a:srgbClr val="FFFFFF"/>
                </a:solidFill>
                <a:latin typeface="Calibri"/>
              </a:rPr>
              <a:t>• Harorat (±1°C)</a:t>
            </a:r>
          </a:p>
          <a:p>
            <a:pPr algn="l" indent="0">
              <a:spcBef>
                <a:spcPts val="0"/>
              </a:spcBef>
              <a:spcAft>
                <a:spcPts val="0"/>
              </a:spcAft>
            </a:pPr>
            <a:r>
              <a:rPr lang="uz-UZ" sz="900" dirty="0" b="0" i="0">
                <a:solidFill>
                  <a:srgbClr val="FFFFFF"/>
                </a:solidFill>
                <a:latin typeface="Calibri"/>
              </a:rPr>
              <a:t>• Namlik ta'siri</a:t>
            </a:r>
          </a:p>
          <a:p>
            <a:pPr algn="l" indent="0">
              <a:spcBef>
                <a:spcPts val="0"/>
              </a:spcBef>
              <a:spcAft>
                <a:spcPts val="0"/>
              </a:spcAft>
            </a:pPr>
            <a:r>
              <a:rPr lang="uz-UZ" sz="900" dirty="0" b="0" i="0">
                <a:solidFill>
                  <a:srgbClr val="FFFFFF"/>
                </a:solidFill>
                <a:latin typeface="Calibri"/>
              </a:rPr>
              <a:t>• Titrasyon xatosi</a:t>
            </a:r>
          </a:p>
        </p:txBody>
      </p:sp>
      <p:sp>
        <p:nvSpPr>
          <p:cNvPr id="18" name="sp18"/>
          <p:cNvSpPr>
            <a:spLocks noGrp="1"/>
          </p:cNvSpPr>
          <p:nvPr/>
        </p:nvSpPr>
        <p:spPr>
          <a:xfrm>
            <a:off x="6012000" y="2322000"/>
            <a:ext cx="2700000" cy="864000"/>
          </a:xfrm>
          <a:prstGeom prst="rect">
            <a:avLst/>
          </a:prstGeom>
          <a:solidFill>
            <a:srgbClr val="C00000"/>
          </a:solidFill>
        </p:spPr>
        <p:txBody>
          <a:bodyPr anchor="t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100" dirty="0" b="1" i="0">
                <a:solidFill>
                  <a:srgbClr val="FFFFFF"/>
                </a:solidFill>
                <a:latin typeface="Calibri"/>
              </a:rPr>
              <a:t>6. OPERATORGA</a:t>
            </a:r>
          </a:p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100" dirty="0" b="1" i="0">
                <a:solidFill>
                  <a:srgbClr val="FFFFFF"/>
                </a:solidFill>
                <a:latin typeface="Calibri"/>
              </a:rPr>
              <a:t>BOG'LIQ</a:t>
            </a:r>
          </a:p>
        </p:txBody>
      </p:sp>
      <p:sp>
        <p:nvSpPr>
          <p:cNvPr id="19" name="sp19"/>
          <p:cNvSpPr>
            <a:spLocks noGrp="1"/>
          </p:cNvSpPr>
          <p:nvPr/>
        </p:nvSpPr>
        <p:spPr>
          <a:xfrm>
            <a:off x="6084000" y="2592000"/>
            <a:ext cx="2556000" cy="576000"/>
          </a:xfrm>
          <a:prstGeom prst="rect">
            <a:avLst/>
          </a:prstGeom>
          <a:noFill/>
        </p:spPr>
        <p:txBody>
          <a:bodyPr anchor="t" lIns="91440" tIns="45720" rIns="91440" bIns="45720" wrap="square"/>
          <a:lstStyle/>
          <a:p>
            <a:pPr algn="l" indent="0">
              <a:spcBef>
                <a:spcPts val="0"/>
              </a:spcBef>
              <a:spcAft>
                <a:spcPts val="0"/>
              </a:spcAft>
            </a:pPr>
            <a:r>
              <a:rPr lang="uz-UZ" sz="900" dirty="0" b="0" i="0">
                <a:solidFill>
                  <a:srgbClr val="FFFFFF"/>
                </a:solidFill>
                <a:latin typeface="Calibri"/>
              </a:rPr>
              <a:t>• Operator farqi</a:t>
            </a:r>
          </a:p>
          <a:p>
            <a:pPr algn="l" indent="0">
              <a:spcBef>
                <a:spcPts val="0"/>
              </a:spcBef>
              <a:spcAft>
                <a:spcPts val="0"/>
              </a:spcAft>
            </a:pPr>
            <a:r>
              <a:rPr lang="uz-UZ" sz="900" dirty="0" b="0" i="0">
                <a:solidFill>
                  <a:srgbClr val="FFFFFF"/>
                </a:solidFill>
                <a:latin typeface="Calibri"/>
              </a:rPr>
              <a:t>• Kunlararo farq</a:t>
            </a:r>
          </a:p>
          <a:p>
            <a:pPr algn="l" indent="0">
              <a:spcBef>
                <a:spcPts val="0"/>
              </a:spcBef>
              <a:spcAft>
                <a:spcPts val="0"/>
              </a:spcAft>
            </a:pPr>
            <a:r>
              <a:rPr lang="uz-UZ" sz="900" dirty="0" b="0" i="0">
                <a:solidFill>
                  <a:srgbClr val="FFFFFF"/>
                </a:solidFill>
                <a:latin typeface="Calibri"/>
              </a:rPr>
              <a:t>• IQC intermediate SD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1" name="sp1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BFF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400" dirty="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" name="sp2"/>
          <p:cNvSpPr>
            <a:spLocks noGrp="1"/>
          </p:cNvSpPr>
          <p:nvPr/>
        </p:nvSpPr>
        <p:spPr>
          <a:xfrm>
            <a:off x="0" y="0"/>
            <a:ext cx="9144000" cy="864000"/>
          </a:xfrm>
          <a:prstGeom prst="rect">
            <a:avLst/>
          </a:prstGeom>
          <a:solidFill>
            <a:srgbClr val="1F3864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400" dirty="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" name="sp3"/>
          <p:cNvSpPr>
            <a:spLocks noGrp="1"/>
          </p:cNvSpPr>
          <p:nvPr/>
        </p:nvSpPr>
        <p:spPr>
          <a:xfrm>
            <a:off x="108000" y="90000"/>
            <a:ext cx="432000" cy="360000"/>
          </a:xfrm>
          <a:prstGeom prst="rect">
            <a:avLst/>
          </a:prstGeom>
          <a:solidFill>
            <a:srgbClr val="00B0F0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2200" dirty="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" name="sp4"/>
          <p:cNvSpPr>
            <a:spLocks noGrp="1"/>
          </p:cNvSpPr>
          <p:nvPr/>
        </p:nvSpPr>
        <p:spPr>
          <a:xfrm>
            <a:off x="648000" y="72000"/>
            <a:ext cx="8316000" cy="432000"/>
          </a:xfrm>
          <a:prstGeom prst="rect">
            <a:avLst/>
          </a:prstGeom>
          <a:noFill/>
        </p:spPr>
        <p:txBody>
          <a:bodyPr anchor="ctr" lIns="91440" tIns="45720" rIns="91440" bIns="45720" wrap="square"/>
          <a:lstStyle/>
          <a:p>
            <a:pPr algn="l" indent="0">
              <a:spcBef>
                <a:spcPts val="0"/>
              </a:spcBef>
              <a:spcAft>
                <a:spcPts val="0"/>
              </a:spcAft>
            </a:pPr>
            <a:r>
              <a:rPr lang="uz-UZ" sz="2200" dirty="0" b="1" i="0">
                <a:solidFill>
                  <a:srgbClr val="FFFFFF"/>
                </a:solidFill>
                <a:latin typeface="Calibri"/>
              </a:rPr>
              <a:t>NOANIQLIK BYUDJETI — HISOBLASH JADVALI</a:t>
            </a:r>
          </a:p>
        </p:txBody>
      </p:sp>
      <p:sp>
        <p:nvSpPr>
          <p:cNvPr id="5" name="sp5"/>
          <p:cNvSpPr>
            <a:spLocks noGrp="1"/>
          </p:cNvSpPr>
          <p:nvPr/>
        </p:nvSpPr>
        <p:spPr>
          <a:xfrm>
            <a:off x="0" y="864000"/>
            <a:ext cx="9144000" cy="251999"/>
          </a:xfrm>
          <a:prstGeom prst="rect">
            <a:avLst/>
          </a:prstGeom>
          <a:solidFill>
            <a:srgbClr val="2E75B6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000" dirty="0" b="0" i="0">
                <a:solidFill>
                  <a:srgbClr val="FFFFFF"/>
                </a:solidFill>
                <a:latin typeface="Calibri"/>
              </a:rPr>
              <a:t>GUM §5 | EURACHEM/CITAC CG4 — Pestitsid qoldig'i (LC-MS/MS, 50 µg/kg) misoli</a:t>
            </a:r>
          </a:p>
        </p:txBody>
      </p:sp>
      <p:sp>
        <p:nvSpPr>
          <p:cNvPr id="6" name="sp6"/>
          <p:cNvSpPr>
            <a:spLocks noGrp="1"/>
          </p:cNvSpPr>
          <p:nvPr/>
        </p:nvSpPr>
        <p:spPr>
          <a:xfrm>
            <a:off x="0" y="4927500"/>
            <a:ext cx="9144000" cy="216000"/>
          </a:xfrm>
          <a:prstGeom prst="rect">
            <a:avLst/>
          </a:prstGeom>
          <a:solidFill>
            <a:srgbClr val="1F3864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800" dirty="0" b="0" i="0">
                <a:solidFill>
                  <a:srgbClr val="FFFFFF"/>
                </a:solidFill>
                <a:latin typeface="Calibri"/>
              </a:rPr>
              <a:t>u_c = √(0.029²+0.017²+0.023²+0.031²+0.012²+0.008²) = 0.053 → U = 2×0.053 = 0.106 → 10.6 µg/kg (k=2)</a:t>
            </a:r>
          </a:p>
        </p:txBody>
      </p:sp>
      <p:graphicFrame>
        <p:nvGraphicFramePr>
          <p:cNvPr id="7" name="tbl7"/>
          <p:cNvGraphicFramePr>
            <a:graphicFrameLocks noGrp="1"/>
          </p:cNvGraphicFramePr>
          <p:nvPr/>
        </p:nvGraphicFramePr>
        <p:xfrm>
          <a:off x="108000" y="1134000"/>
          <a:ext cx="89280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8000"/>
                <a:gridCol w="1260000"/>
                <a:gridCol w="1260000"/>
                <a:gridCol w="1152000"/>
                <a:gridCol w="1007999"/>
                <a:gridCol w="1007999"/>
                <a:gridCol w="864000"/>
              </a:tblGrid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1" i="0">
                          <a:solidFill>
                            <a:srgbClr val="FFFFFF"/>
                          </a:solidFill>
                          <a:latin typeface="Calibri"/>
                        </a:rPr>
                        <a:t>Noaniqlik manbai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1" i="0">
                          <a:solidFill>
                            <a:srgbClr val="FFFFFF"/>
                          </a:solidFill>
                          <a:latin typeface="Calibri"/>
                        </a:rPr>
                        <a:t>Qiymat (a)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1" i="0">
                          <a:solidFill>
                            <a:srgbClr val="FFFFFF"/>
                          </a:solidFill>
                          <a:latin typeface="Calibri"/>
                        </a:rPr>
                        <a:t>Taqsimot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1" i="0">
                          <a:solidFill>
                            <a:srgbClr val="FFFFFF"/>
                          </a:solidFill>
                          <a:latin typeface="Calibri"/>
                        </a:rPr>
                        <a:t>Divisor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1" i="0">
                          <a:solidFill>
                            <a:srgbClr val="FFFFFF"/>
                          </a:solidFill>
                          <a:latin typeface="Calibri"/>
                        </a:rPr>
                        <a:t>u(xᵢ)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1" i="0">
                          <a:solidFill>
                            <a:srgbClr val="FFFFFF"/>
                          </a:solidFill>
                          <a:latin typeface="Calibri"/>
                        </a:rPr>
                        <a:t>u²(xᵢ)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1" i="0">
                          <a:solidFill>
                            <a:srgbClr val="FFFFFF"/>
                          </a:solidFill>
                          <a:latin typeface="Calibri"/>
                        </a:rPr>
                        <a:t>Hissa (%)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CRM sofligi (99.2±0.4%)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0.4%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To'g'ri burchak (R)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√3=1.732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0.231%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0.053%²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10.7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E4F0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Tarozilay (±0.1 mg)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0.1 mg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√3=1.732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0.058 mg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0.003 mg²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1.1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Ekstraksiya Recovery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SD=2.3%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Normal (N)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2.3%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5.3%²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23.8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E4F0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Kalibrasiya egri chizig'i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SD=1.7%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1.7%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2.9%²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13.0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Matritsa ta'siri (IS CV)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SD=3.1%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3.1%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9.6%²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43.0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E4F0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Hajmiy idishlar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0.08%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√3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0.046%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0.002%²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0.9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Harorat ta'siri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0.5%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√3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0.289%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0.083%²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7.5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E4F0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JAMI  u_c (rel.)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5.3%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28.0%²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p8"/>
          <p:cNvSpPr>
            <a:spLocks noGrp="1"/>
          </p:cNvSpPr>
          <p:nvPr/>
        </p:nvSpPr>
        <p:spPr>
          <a:xfrm>
            <a:off x="108000" y="2862000"/>
            <a:ext cx="8928000" cy="270000"/>
          </a:xfrm>
          <a:prstGeom prst="rect">
            <a:avLst/>
          </a:prstGeom>
          <a:solidFill>
            <a:srgbClr val="1F3864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300" dirty="0" b="1" i="0">
                <a:solidFill>
                  <a:srgbClr val="FFFFFF"/>
                </a:solidFill>
                <a:latin typeface="Calibri"/>
              </a:rPr>
              <a:t>NATIJA:  50 µg/kg ± 10.6 µg/kg   (U, k=2, ~95% ishonch)   |   U_rel = 10.6 / 50 × 100 = 21.2%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1" name="sp1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BFF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400" dirty="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" name="sp2"/>
          <p:cNvSpPr>
            <a:spLocks noGrp="1"/>
          </p:cNvSpPr>
          <p:nvPr/>
        </p:nvSpPr>
        <p:spPr>
          <a:xfrm>
            <a:off x="0" y="0"/>
            <a:ext cx="9144000" cy="864000"/>
          </a:xfrm>
          <a:prstGeom prst="rect">
            <a:avLst/>
          </a:prstGeom>
          <a:solidFill>
            <a:srgbClr val="1F3864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400" dirty="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" name="sp3"/>
          <p:cNvSpPr>
            <a:spLocks noGrp="1"/>
          </p:cNvSpPr>
          <p:nvPr/>
        </p:nvSpPr>
        <p:spPr>
          <a:xfrm>
            <a:off x="108000" y="90000"/>
            <a:ext cx="432000" cy="360000"/>
          </a:xfrm>
          <a:prstGeom prst="rect">
            <a:avLst/>
          </a:prstGeom>
          <a:solidFill>
            <a:srgbClr val="00B0F0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2200" dirty="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" name="sp4"/>
          <p:cNvSpPr>
            <a:spLocks noGrp="1"/>
          </p:cNvSpPr>
          <p:nvPr/>
        </p:nvSpPr>
        <p:spPr>
          <a:xfrm>
            <a:off x="648000" y="72000"/>
            <a:ext cx="8316000" cy="432000"/>
          </a:xfrm>
          <a:prstGeom prst="rect">
            <a:avLst/>
          </a:prstGeom>
          <a:noFill/>
        </p:spPr>
        <p:txBody>
          <a:bodyPr anchor="ctr" lIns="91440" tIns="45720" rIns="91440" bIns="45720" wrap="square"/>
          <a:lstStyle/>
          <a:p>
            <a:pPr algn="l" indent="0">
              <a:spcBef>
                <a:spcPts val="0"/>
              </a:spcBef>
              <a:spcAft>
                <a:spcPts val="0"/>
              </a:spcAft>
            </a:pPr>
            <a:r>
              <a:rPr lang="uz-UZ" sz="2200" dirty="0" b="1" i="0">
                <a:solidFill>
                  <a:srgbClr val="FFFFFF"/>
                </a:solidFill>
                <a:latin typeface="Calibri"/>
              </a:rPr>
              <a:t>NOANIQLIK HISOBLASH YONDASHUVLARI</a:t>
            </a:r>
          </a:p>
        </p:txBody>
      </p:sp>
      <p:sp>
        <p:nvSpPr>
          <p:cNvPr id="5" name="sp5"/>
          <p:cNvSpPr>
            <a:spLocks noGrp="1"/>
          </p:cNvSpPr>
          <p:nvPr/>
        </p:nvSpPr>
        <p:spPr>
          <a:xfrm>
            <a:off x="0" y="864000"/>
            <a:ext cx="9144000" cy="251999"/>
          </a:xfrm>
          <a:prstGeom prst="rect">
            <a:avLst/>
          </a:prstGeom>
          <a:solidFill>
            <a:srgbClr val="2E75B6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000" dirty="0" b="0" i="0">
                <a:solidFill>
                  <a:srgbClr val="FFFFFF"/>
                </a:solidFill>
                <a:latin typeface="Calibri"/>
              </a:rPr>
              <a:t>Top-down (empirik) vs Bottom-up (GUM) — Foydalanish holatlari va afzalliklar</a:t>
            </a:r>
          </a:p>
        </p:txBody>
      </p:sp>
      <p:sp>
        <p:nvSpPr>
          <p:cNvPr id="6" name="sp6"/>
          <p:cNvSpPr>
            <a:spLocks noGrp="1"/>
          </p:cNvSpPr>
          <p:nvPr/>
        </p:nvSpPr>
        <p:spPr>
          <a:xfrm>
            <a:off x="0" y="4927500"/>
            <a:ext cx="9144000" cy="216000"/>
          </a:xfrm>
          <a:prstGeom prst="rect">
            <a:avLst/>
          </a:prstGeom>
          <a:solidFill>
            <a:srgbClr val="1F3864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800" dirty="0" b="0" i="0">
                <a:solidFill>
                  <a:srgbClr val="FFFFFF"/>
                </a:solidFill>
                <a:latin typeface="Calibri"/>
              </a:rPr>
              <a:t>EURACHEM/CITAC CG4 (2012): Routine laboratoriyalar uchun Top-down, yangi metodlar uchun Bottom-up tavsiya etiladi</a:t>
            </a:r>
          </a:p>
        </p:txBody>
      </p:sp>
      <p:sp>
        <p:nvSpPr>
          <p:cNvPr id="7" name="sp7"/>
          <p:cNvSpPr>
            <a:spLocks noGrp="1"/>
          </p:cNvSpPr>
          <p:nvPr/>
        </p:nvSpPr>
        <p:spPr>
          <a:xfrm>
            <a:off x="108000" y="1152000"/>
            <a:ext cx="4320000" cy="234000"/>
          </a:xfrm>
          <a:prstGeom prst="rect">
            <a:avLst/>
          </a:prstGeom>
          <a:solidFill>
            <a:srgbClr val="2E75B6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300" dirty="0" b="1" i="0">
                <a:solidFill>
                  <a:srgbClr val="FFFFFF"/>
                </a:solidFill>
                <a:latin typeface="Calibri"/>
              </a:rPr>
              <a:t>⬆  TOP-DOWN YONDASHUV (EURACHEM CG4)</a:t>
            </a:r>
          </a:p>
        </p:txBody>
      </p:sp>
      <p:sp>
        <p:nvSpPr>
          <p:cNvPr id="8" name="sp8"/>
          <p:cNvSpPr>
            <a:spLocks noGrp="1"/>
          </p:cNvSpPr>
          <p:nvPr/>
        </p:nvSpPr>
        <p:spPr>
          <a:xfrm>
            <a:off x="108000" y="1386000"/>
            <a:ext cx="4320000" cy="1116000"/>
          </a:xfrm>
          <a:prstGeom prst="rect">
            <a:avLst/>
          </a:prstGeom>
          <a:solidFill>
            <a:srgbClr val="D6E4F0"/>
          </a:solidFill>
          <a:ln>
            <a:solidFill>
              <a:srgbClr val="CCCCCC"/>
            </a:solidFill>
          </a:ln>
        </p:spPr>
        <p:txBody>
          <a:bodyPr anchor="t" lIns="108000" tIns="72000" rIns="108000" bIns="72000" wrap="square"/>
          <a:lstStyle/>
          <a:p>
            <a:pPr algn="l" indent="0">
              <a:spcBef>
                <a:spcPts val="300"/>
              </a:spcBef>
              <a:spcAft>
                <a:spcPts val="300"/>
              </a:spcAft>
            </a:pPr>
            <a:r>
              <a:rPr lang="uz-UZ" sz="1000" dirty="0" b="1" i="0">
                <a:solidFill>
                  <a:srgbClr val="2E75B6"/>
                </a:solidFill>
                <a:latin typeface="Calibri"/>
              </a:rPr>
              <a:t>• </a:t>
            </a:r>
            <a:r>
              <a:rPr lang="uz-UZ" sz="1000" dirty="0" b="0" i="0">
                <a:solidFill>
                  <a:srgbClr val="000000"/>
                </a:solidFill>
                <a:latin typeface="Calibri"/>
              </a:rPr>
              <a:t>IQC ma'lumotlaridan hisoblash (≥6 oy, ≥60 ta natija)</a:t>
            </a:r>
          </a:p>
          <a:p>
            <a:pPr algn="l" indent="0">
              <a:spcBef>
                <a:spcPts val="300"/>
              </a:spcBef>
              <a:spcAft>
                <a:spcPts val="300"/>
              </a:spcAft>
            </a:pPr>
            <a:r>
              <a:rPr lang="uz-UZ" sz="1000" dirty="0" b="1" i="0">
                <a:solidFill>
                  <a:srgbClr val="2E75B6"/>
                </a:solidFill>
                <a:latin typeface="Calibri"/>
              </a:rPr>
              <a:t>• </a:t>
            </a:r>
            <a:r>
              <a:rPr lang="uz-UZ" sz="1000" dirty="0" b="0" i="0">
                <a:solidFill>
                  <a:srgbClr val="000000"/>
                </a:solidFill>
                <a:latin typeface="Calibri"/>
              </a:rPr>
              <a:t>u_c = √[ u²(repeat.) + u²(inter-day SD) + u²(bias) ]</a:t>
            </a:r>
          </a:p>
          <a:p>
            <a:pPr algn="l" indent="0">
              <a:spcBef>
                <a:spcPts val="300"/>
              </a:spcBef>
              <a:spcAft>
                <a:spcPts val="300"/>
              </a:spcAft>
            </a:pPr>
            <a:r>
              <a:rPr lang="uz-UZ" sz="1000" dirty="0" b="1" i="0">
                <a:solidFill>
                  <a:srgbClr val="2E75B6"/>
                </a:solidFill>
                <a:latin typeface="Calibri"/>
              </a:rPr>
              <a:t>• </a:t>
            </a:r>
            <a:r>
              <a:rPr lang="uz-UZ" sz="1000" dirty="0" b="0" i="0">
                <a:solidFill>
                  <a:srgbClr val="000000"/>
                </a:solidFill>
                <a:latin typeface="Calibri"/>
              </a:rPr>
              <a:t>Bias = |(x̄ − μ_ref)| / μ_ref  (CRM yoki PT dan)</a:t>
            </a:r>
          </a:p>
          <a:p>
            <a:pPr algn="l" indent="0">
              <a:spcBef>
                <a:spcPts val="300"/>
              </a:spcBef>
              <a:spcAft>
                <a:spcPts val="300"/>
              </a:spcAft>
            </a:pPr>
            <a:r>
              <a:rPr lang="uz-UZ" sz="1000" dirty="0" b="1" i="0">
                <a:solidFill>
                  <a:srgbClr val="2E75B6"/>
                </a:solidFill>
                <a:latin typeface="Calibri"/>
              </a:rPr>
              <a:t>• </a:t>
            </a:r>
            <a:r>
              <a:rPr lang="uz-UZ" sz="1000" dirty="0" b="0" i="0">
                <a:solidFill>
                  <a:srgbClr val="000000"/>
                </a:solidFill>
                <a:latin typeface="Calibri"/>
              </a:rPr>
              <a:t>Kamchiligi: Sistemik xatolarni ko'rsatmasligi mumkin</a:t>
            </a:r>
          </a:p>
          <a:p>
            <a:pPr algn="l" indent="0">
              <a:spcBef>
                <a:spcPts val="300"/>
              </a:spcBef>
              <a:spcAft>
                <a:spcPts val="300"/>
              </a:spcAft>
            </a:pPr>
            <a:r>
              <a:rPr lang="uz-UZ" sz="1000" dirty="0" b="1" i="0">
                <a:solidFill>
                  <a:srgbClr val="2E75B6"/>
                </a:solidFill>
                <a:latin typeface="Calibri"/>
              </a:rPr>
              <a:t>• </a:t>
            </a:r>
            <a:r>
              <a:rPr lang="uz-UZ" sz="1000" dirty="0" b="0" i="0">
                <a:solidFill>
                  <a:srgbClr val="000000"/>
                </a:solidFill>
                <a:latin typeface="Calibri"/>
              </a:rPr>
              <a:t>Qachon: Ko'p IQC tarixi bor kundalik testlar uchun</a:t>
            </a:r>
          </a:p>
        </p:txBody>
      </p:sp>
      <p:sp>
        <p:nvSpPr>
          <p:cNvPr id="9" name="sp9"/>
          <p:cNvSpPr>
            <a:spLocks noGrp="1"/>
          </p:cNvSpPr>
          <p:nvPr/>
        </p:nvSpPr>
        <p:spPr>
          <a:xfrm>
            <a:off x="4680000" y="1152000"/>
            <a:ext cx="4140000" cy="234000"/>
          </a:xfrm>
          <a:prstGeom prst="rect">
            <a:avLst/>
          </a:prstGeom>
          <a:solidFill>
            <a:srgbClr val="375623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300" dirty="0" b="1" i="0">
                <a:solidFill>
                  <a:srgbClr val="FFFFFF"/>
                </a:solidFill>
                <a:latin typeface="Calibri"/>
              </a:rPr>
              <a:t>⬇  BOTTOM-UP YONDASHUV (GUM §5)</a:t>
            </a:r>
          </a:p>
        </p:txBody>
      </p:sp>
      <p:sp>
        <p:nvSpPr>
          <p:cNvPr id="10" name="sp10"/>
          <p:cNvSpPr>
            <a:spLocks noGrp="1"/>
          </p:cNvSpPr>
          <p:nvPr/>
        </p:nvSpPr>
        <p:spPr>
          <a:xfrm>
            <a:off x="4680000" y="1386000"/>
            <a:ext cx="4140000" cy="1116000"/>
          </a:xfrm>
          <a:prstGeom prst="rect">
            <a:avLst/>
          </a:prstGeom>
          <a:solidFill>
            <a:srgbClr val="E2EFDA"/>
          </a:solidFill>
          <a:ln>
            <a:solidFill>
              <a:srgbClr val="CCCCCC"/>
            </a:solidFill>
          </a:ln>
        </p:spPr>
        <p:txBody>
          <a:bodyPr anchor="t" lIns="108000" tIns="72000" rIns="108000" bIns="72000" wrap="square"/>
          <a:lstStyle/>
          <a:p>
            <a:pPr algn="l" indent="0">
              <a:spcBef>
                <a:spcPts val="300"/>
              </a:spcBef>
              <a:spcAft>
                <a:spcPts val="300"/>
              </a:spcAft>
            </a:pPr>
            <a:r>
              <a:rPr lang="uz-UZ" sz="1000" dirty="0" b="1" i="0">
                <a:solidFill>
                  <a:srgbClr val="375623"/>
                </a:solidFill>
                <a:latin typeface="Calibri"/>
              </a:rPr>
              <a:t>• </a:t>
            </a:r>
            <a:r>
              <a:rPr lang="uz-UZ" sz="1000" dirty="0" b="0" i="0">
                <a:solidFill>
                  <a:srgbClr val="000000"/>
                </a:solidFill>
                <a:latin typeface="Calibri"/>
              </a:rPr>
              <a:t>Har bir manba alohida identifikatsiya va miqdorlanadi</a:t>
            </a:r>
          </a:p>
          <a:p>
            <a:pPr algn="l" indent="0">
              <a:spcBef>
                <a:spcPts val="300"/>
              </a:spcBef>
              <a:spcAft>
                <a:spcPts val="300"/>
              </a:spcAft>
            </a:pPr>
            <a:r>
              <a:rPr lang="uz-UZ" sz="1000" dirty="0" b="1" i="0">
                <a:solidFill>
                  <a:srgbClr val="375623"/>
                </a:solidFill>
                <a:latin typeface="Calibri"/>
              </a:rPr>
              <a:t>• </a:t>
            </a:r>
            <a:r>
              <a:rPr lang="uz-UZ" sz="1000" dirty="0" b="0" i="0">
                <a:solidFill>
                  <a:srgbClr val="000000"/>
                </a:solidFill>
                <a:latin typeface="Calibri"/>
              </a:rPr>
              <a:t>u(xi) = a / divisor  (taqsimotga qarab)</a:t>
            </a:r>
          </a:p>
          <a:p>
            <a:pPr algn="l" indent="0">
              <a:spcBef>
                <a:spcPts val="300"/>
              </a:spcBef>
              <a:spcAft>
                <a:spcPts val="300"/>
              </a:spcAft>
            </a:pPr>
            <a:r>
              <a:rPr lang="uz-UZ" sz="1000" dirty="0" b="1" i="0">
                <a:solidFill>
                  <a:srgbClr val="375623"/>
                </a:solidFill>
                <a:latin typeface="Calibri"/>
              </a:rPr>
              <a:t>• </a:t>
            </a:r>
            <a:r>
              <a:rPr lang="uz-UZ" sz="1000" dirty="0" b="0" i="0">
                <a:solidFill>
                  <a:srgbClr val="000000"/>
                </a:solidFill>
                <a:latin typeface="Calibri"/>
              </a:rPr>
              <a:t>Kragten elektron jadvali yoki qisman hosilalar</a:t>
            </a:r>
          </a:p>
          <a:p>
            <a:pPr algn="l" indent="0">
              <a:spcBef>
                <a:spcPts val="300"/>
              </a:spcBef>
              <a:spcAft>
                <a:spcPts val="300"/>
              </a:spcAft>
            </a:pPr>
            <a:r>
              <a:rPr lang="uz-UZ" sz="1000" dirty="0" b="1" i="0">
                <a:solidFill>
                  <a:srgbClr val="375623"/>
                </a:solidFill>
                <a:latin typeface="Calibri"/>
              </a:rPr>
              <a:t>• </a:t>
            </a:r>
            <a:r>
              <a:rPr lang="uz-UZ" sz="1000" dirty="0" b="0" i="0">
                <a:solidFill>
                  <a:srgbClr val="000000"/>
                </a:solidFill>
                <a:latin typeface="Calibri"/>
              </a:rPr>
              <a:t>Afzalligi: Sistemik komponentlarni aniqlaydi</a:t>
            </a:r>
          </a:p>
          <a:p>
            <a:pPr algn="l" indent="0">
              <a:spcBef>
                <a:spcPts val="300"/>
              </a:spcBef>
              <a:spcAft>
                <a:spcPts val="300"/>
              </a:spcAft>
            </a:pPr>
            <a:r>
              <a:rPr lang="uz-UZ" sz="1000" dirty="0" b="1" i="0">
                <a:solidFill>
                  <a:srgbClr val="375623"/>
                </a:solidFill>
                <a:latin typeface="Calibri"/>
              </a:rPr>
              <a:t>• </a:t>
            </a:r>
            <a:r>
              <a:rPr lang="uz-UZ" sz="1000" dirty="0" b="0" i="0">
                <a:solidFill>
                  <a:srgbClr val="000000"/>
                </a:solidFill>
                <a:latin typeface="Calibri"/>
              </a:rPr>
              <a:t>Qachon: Yangi metod, validatsiya, akkreditatsiya</a:t>
            </a:r>
          </a:p>
        </p:txBody>
      </p:sp>
      <p:sp>
        <p:nvSpPr>
          <p:cNvPr id="11" name="sp11"/>
          <p:cNvSpPr>
            <a:spLocks noGrp="1"/>
          </p:cNvSpPr>
          <p:nvPr/>
        </p:nvSpPr>
        <p:spPr>
          <a:xfrm>
            <a:off x="108000" y="2574000"/>
            <a:ext cx="8928000" cy="234000"/>
          </a:xfrm>
          <a:prstGeom prst="rect">
            <a:avLst/>
          </a:prstGeom>
          <a:solidFill>
            <a:srgbClr val="1F3864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200" dirty="0" b="1" i="0">
                <a:solidFill>
                  <a:srgbClr val="FFFFFF"/>
                </a:solidFill>
                <a:latin typeface="Calibri"/>
              </a:rPr>
              <a:t>Ikkala yondashuv uchun ham:   U = k × u_c   (k=2 → ~95%)   |   Hisobotda: x̄ ± U [birlik]; k=2; CRM kuzatilishi</a:t>
            </a:r>
          </a:p>
        </p:txBody>
      </p:sp>
      <p:sp>
        <p:nvSpPr>
          <p:cNvPr id="12" name="sp12"/>
          <p:cNvSpPr>
            <a:spLocks noGrp="1"/>
          </p:cNvSpPr>
          <p:nvPr/>
        </p:nvSpPr>
        <p:spPr>
          <a:xfrm>
            <a:off x="108000" y="2844000"/>
            <a:ext cx="2880000" cy="234000"/>
          </a:xfrm>
          <a:prstGeom prst="rect">
            <a:avLst/>
          </a:prstGeom>
          <a:solidFill>
            <a:srgbClr val="7030A0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100" dirty="0" b="1" i="0">
                <a:solidFill>
                  <a:srgbClr val="FFFFFF"/>
                </a:solidFill>
                <a:latin typeface="Calibri"/>
              </a:rPr>
              <a:t>NORMAL taqsimot → divisor = 1  (IQC SD)</a:t>
            </a:r>
          </a:p>
        </p:txBody>
      </p:sp>
      <p:sp>
        <p:nvSpPr>
          <p:cNvPr id="13" name="sp13"/>
          <p:cNvSpPr>
            <a:spLocks noGrp="1"/>
          </p:cNvSpPr>
          <p:nvPr/>
        </p:nvSpPr>
        <p:spPr>
          <a:xfrm>
            <a:off x="3096000" y="2844000"/>
            <a:ext cx="2520000" cy="234000"/>
          </a:xfrm>
          <a:prstGeom prst="rect">
            <a:avLst/>
          </a:prstGeom>
          <a:solidFill>
            <a:srgbClr val="C55A11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100" dirty="0" b="1" i="0">
                <a:solidFill>
                  <a:srgbClr val="FFFFFF"/>
                </a:solidFill>
                <a:latin typeface="Calibri"/>
              </a:rPr>
              <a:t>TO'G'RI BURCHAK → divisor = √3  (sertifikat ±)</a:t>
            </a:r>
          </a:p>
        </p:txBody>
      </p:sp>
      <p:sp>
        <p:nvSpPr>
          <p:cNvPr id="14" name="sp14"/>
          <p:cNvSpPr>
            <a:spLocks noGrp="1"/>
          </p:cNvSpPr>
          <p:nvPr/>
        </p:nvSpPr>
        <p:spPr>
          <a:xfrm>
            <a:off x="5760000" y="2844000"/>
            <a:ext cx="3060000" cy="234000"/>
          </a:xfrm>
          <a:prstGeom prst="rect">
            <a:avLst/>
          </a:prstGeom>
          <a:solidFill>
            <a:srgbClr val="C00000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100" dirty="0" b="1" i="0">
                <a:solidFill>
                  <a:srgbClr val="FFFFFF"/>
                </a:solidFill>
                <a:latin typeface="Calibri"/>
              </a:rPr>
              <a:t>UCHBURCHAK → divisor = √6  (ikkala chegara)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1" name="sp1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400" dirty="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" name="sp2"/>
          <p:cNvSpPr>
            <a:spLocks noGrp="1"/>
          </p:cNvSpPr>
          <p:nvPr/>
        </p:nvSpPr>
        <p:spPr>
          <a:xfrm>
            <a:off x="0" y="0"/>
            <a:ext cx="9144000" cy="864000"/>
          </a:xfrm>
          <a:prstGeom prst="rect">
            <a:avLst/>
          </a:prstGeom>
          <a:solidFill>
            <a:srgbClr val="1F3864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400" dirty="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" name="sp3"/>
          <p:cNvSpPr>
            <a:spLocks noGrp="1"/>
          </p:cNvSpPr>
          <p:nvPr/>
        </p:nvSpPr>
        <p:spPr>
          <a:xfrm>
            <a:off x="108000" y="90000"/>
            <a:ext cx="432000" cy="360000"/>
          </a:xfrm>
          <a:prstGeom prst="rect">
            <a:avLst/>
          </a:prstGeom>
          <a:solidFill>
            <a:srgbClr val="00B0F0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2200" dirty="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" name="sp4"/>
          <p:cNvSpPr>
            <a:spLocks noGrp="1"/>
          </p:cNvSpPr>
          <p:nvPr/>
        </p:nvSpPr>
        <p:spPr>
          <a:xfrm>
            <a:off x="648000" y="72000"/>
            <a:ext cx="8316000" cy="432000"/>
          </a:xfrm>
          <a:prstGeom prst="rect">
            <a:avLst/>
          </a:prstGeom>
          <a:noFill/>
        </p:spPr>
        <p:txBody>
          <a:bodyPr anchor="ctr" lIns="91440" tIns="45720" rIns="91440" bIns="45720" wrap="square"/>
          <a:lstStyle/>
          <a:p>
            <a:pPr algn="l" indent="0">
              <a:spcBef>
                <a:spcPts val="0"/>
              </a:spcBef>
              <a:spcAft>
                <a:spcPts val="0"/>
              </a:spcAft>
            </a:pPr>
            <a:r>
              <a:rPr lang="uz-UZ" sz="2200" dirty="0" b="1" i="0">
                <a:solidFill>
                  <a:srgbClr val="FFFFFF"/>
                </a:solidFill>
                <a:latin typeface="Calibri"/>
              </a:rPr>
              <a:t>TOKSIK MODDALAR — NOANIQLIK MISOLLARI</a:t>
            </a:r>
          </a:p>
        </p:txBody>
      </p:sp>
      <p:sp>
        <p:nvSpPr>
          <p:cNvPr id="5" name="sp5"/>
          <p:cNvSpPr>
            <a:spLocks noGrp="1"/>
          </p:cNvSpPr>
          <p:nvPr/>
        </p:nvSpPr>
        <p:spPr>
          <a:xfrm>
            <a:off x="0" y="864000"/>
            <a:ext cx="9144000" cy="251999"/>
          </a:xfrm>
          <a:prstGeom prst="rect">
            <a:avLst/>
          </a:prstGeom>
          <a:solidFill>
            <a:srgbClr val="2E75B6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000" dirty="0" b="0" i="0">
                <a:solidFill>
                  <a:srgbClr val="FFFFFF"/>
                </a:solidFill>
                <a:latin typeface="Calibri"/>
              </a:rPr>
              <a:t>Pestitsidlar | Og'ir metallar | Mikotoksinlar | PAH | Veterinar dori qoldiqlari</a:t>
            </a:r>
          </a:p>
        </p:txBody>
      </p:sp>
      <p:sp>
        <p:nvSpPr>
          <p:cNvPr id="6" name="sp6"/>
          <p:cNvSpPr>
            <a:spLocks noGrp="1"/>
          </p:cNvSpPr>
          <p:nvPr/>
        </p:nvSpPr>
        <p:spPr>
          <a:xfrm>
            <a:off x="0" y="4927500"/>
            <a:ext cx="9144000" cy="216000"/>
          </a:xfrm>
          <a:prstGeom prst="rect">
            <a:avLst/>
          </a:prstGeom>
          <a:solidFill>
            <a:srgbClr val="1F3864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800" dirty="0" b="0" i="0">
                <a:solidFill>
                  <a:srgbClr val="FFFFFF"/>
                </a:solidFill>
                <a:latin typeface="Calibri"/>
              </a:rPr>
              <a:t>SANTE/11813/2017: Recovery 70–120%, RSD ≤20%. EC 333/2007: Pb, Cd, Hg uchun MU ≤50% at MRL. COMMISSION REG (EC) 401/2006: Aflatoksin U≤50%</a:t>
            </a:r>
          </a:p>
        </p:txBody>
      </p:sp>
      <p:graphicFrame>
        <p:nvGraphicFramePr>
          <p:cNvPr id="7" name="tbl7"/>
          <p:cNvGraphicFramePr>
            <a:graphicFrameLocks noGrp="1"/>
          </p:cNvGraphicFramePr>
          <p:nvPr/>
        </p:nvGraphicFramePr>
        <p:xfrm>
          <a:off x="108000" y="1134000"/>
          <a:ext cx="8928000" cy="223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512000"/>
                <a:gridCol w="1260000"/>
                <a:gridCol w="1260000"/>
                <a:gridCol w="1620000"/>
                <a:gridCol w="1512000"/>
              </a:tblGrid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1" i="0">
                          <a:solidFill>
                            <a:srgbClr val="FFFFFF"/>
                          </a:solidFill>
                          <a:latin typeface="Calibri"/>
                        </a:rPr>
                        <a:t>Analitik / Guruh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1" i="0">
                          <a:solidFill>
                            <a:srgbClr val="FFFFFF"/>
                          </a:solidFill>
                          <a:latin typeface="Calibri"/>
                        </a:rPr>
                        <a:t>Metod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1" i="0">
                          <a:solidFill>
                            <a:srgbClr val="FFFFFF"/>
                          </a:solidFill>
                          <a:latin typeface="Calibri"/>
                        </a:rPr>
                        <a:t>Matriks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1" i="0">
                          <a:solidFill>
                            <a:srgbClr val="FFFFFF"/>
                          </a:solidFill>
                          <a:latin typeface="Calibri"/>
                        </a:rPr>
                        <a:t>MRL / Cutoff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1" i="0">
                          <a:solidFill>
                            <a:srgbClr val="FFFFFF"/>
                          </a:solidFill>
                          <a:latin typeface="Calibri"/>
                        </a:rPr>
                        <a:t>Maqbul U_rel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1" i="0">
                          <a:solidFill>
                            <a:srgbClr val="FFFFFF"/>
                          </a:solidFill>
                          <a:latin typeface="Calibri"/>
                        </a:rPr>
                        <a:t>Qaror qoidasi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Pestitsid qoldig'i
(masalan, imidakloprid)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LC-MS/MS
SANTE/11813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Meva/sabzavot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0.01 mg/kg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≤50% MRL da
(~25-30% maqbul)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Qat'iy Guard Band
w = U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0E8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Aflatoksin B1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HPLC-FLD
ISO 16050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Don, yong'oq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2 µg/kg (EU)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≤50% MRL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Stringent GB
ILAC-G8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Qo'rg'oshin (Pb)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ICP-MS
EN 15763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Oziq-ovqat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0.1 mg/kg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≤50% (Reg.333/2007)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Shared Risk
yoki Stringent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0E8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Simob (Hg)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CV-AAS / ICP-MS
ISO 17852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Baliq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0.5 mg/kg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≤50%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Stringent GB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Okratoksin A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HPLC-FLD
EN 14132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Donli ekinlar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3 µg/kg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≤50%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Guard Band w=U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0E8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Veterinar dori
(enrofloksatsin)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LC-MS/MS
2002/657/EC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Go'sht, tuxum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100 µg/kg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≤20% (CCα)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CCα/CCβ qaror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PAH (B[a]P)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GC-MS
EN 16619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Tutun, yog'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2 µg/kg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≤50%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Guard Band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0E8"/>
                    </a:solidFill>
                  </a:tcPr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1" name="sp1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BFF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400" dirty="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" name="sp2"/>
          <p:cNvSpPr>
            <a:spLocks noGrp="1"/>
          </p:cNvSpPr>
          <p:nvPr/>
        </p:nvSpPr>
        <p:spPr>
          <a:xfrm>
            <a:off x="0" y="0"/>
            <a:ext cx="9144000" cy="864000"/>
          </a:xfrm>
          <a:prstGeom prst="rect">
            <a:avLst/>
          </a:prstGeom>
          <a:solidFill>
            <a:srgbClr val="1F3864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400" dirty="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" name="sp3"/>
          <p:cNvSpPr>
            <a:spLocks noGrp="1"/>
          </p:cNvSpPr>
          <p:nvPr/>
        </p:nvSpPr>
        <p:spPr>
          <a:xfrm>
            <a:off x="108000" y="90000"/>
            <a:ext cx="432000" cy="360000"/>
          </a:xfrm>
          <a:prstGeom prst="rect">
            <a:avLst/>
          </a:prstGeom>
          <a:solidFill>
            <a:srgbClr val="00B0F0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2200" dirty="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" name="sp4"/>
          <p:cNvSpPr>
            <a:spLocks noGrp="1"/>
          </p:cNvSpPr>
          <p:nvPr/>
        </p:nvSpPr>
        <p:spPr>
          <a:xfrm>
            <a:off x="648000" y="72000"/>
            <a:ext cx="8316000" cy="432000"/>
          </a:xfrm>
          <a:prstGeom prst="rect">
            <a:avLst/>
          </a:prstGeom>
          <a:noFill/>
        </p:spPr>
        <p:txBody>
          <a:bodyPr anchor="ctr" lIns="91440" tIns="45720" rIns="91440" bIns="45720" wrap="square"/>
          <a:lstStyle/>
          <a:p>
            <a:pPr algn="l" indent="0">
              <a:spcBef>
                <a:spcPts val="0"/>
              </a:spcBef>
              <a:spcAft>
                <a:spcPts val="0"/>
              </a:spcAft>
            </a:pPr>
            <a:r>
              <a:rPr lang="uz-UZ" sz="2200" dirty="0" b="1" i="0">
                <a:solidFill>
                  <a:srgbClr val="FFFFFF"/>
                </a:solidFill>
                <a:latin typeface="Calibri"/>
              </a:rPr>
              <a:t>QAROR QABUL QILISH QOIDALARI</a:t>
            </a:r>
          </a:p>
        </p:txBody>
      </p:sp>
      <p:sp>
        <p:nvSpPr>
          <p:cNvPr id="5" name="sp5"/>
          <p:cNvSpPr>
            <a:spLocks noGrp="1"/>
          </p:cNvSpPr>
          <p:nvPr/>
        </p:nvSpPr>
        <p:spPr>
          <a:xfrm>
            <a:off x="0" y="864000"/>
            <a:ext cx="9144000" cy="251999"/>
          </a:xfrm>
          <a:prstGeom prst="rect">
            <a:avLst/>
          </a:prstGeom>
          <a:solidFill>
            <a:srgbClr val="2E75B6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000" dirty="0" b="0" i="0">
                <a:solidFill>
                  <a:srgbClr val="FFFFFF"/>
                </a:solidFill>
                <a:latin typeface="Calibri"/>
              </a:rPr>
              <a:t>ILAC-G8:09/2019 | ISO/IEC 17025:2017 Cl.7.8.6 | ASME B89.7.3.1</a:t>
            </a:r>
          </a:p>
        </p:txBody>
      </p:sp>
      <p:sp>
        <p:nvSpPr>
          <p:cNvPr id="6" name="sp6"/>
          <p:cNvSpPr>
            <a:spLocks noGrp="1"/>
          </p:cNvSpPr>
          <p:nvPr/>
        </p:nvSpPr>
        <p:spPr>
          <a:xfrm>
            <a:off x="0" y="4927500"/>
            <a:ext cx="9144000" cy="216000"/>
          </a:xfrm>
          <a:prstGeom prst="rect">
            <a:avLst/>
          </a:prstGeom>
          <a:solidFill>
            <a:srgbClr val="1F3864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800" dirty="0" b="0" i="0">
                <a:solidFill>
                  <a:srgbClr val="FFFFFF"/>
                </a:solidFill>
                <a:latin typeface="Calibri"/>
              </a:rPr>
              <a:t>ILAC-G8: 'The decision rule shall be documented in the test report when a statement of conformity is made'</a:t>
            </a:r>
          </a:p>
        </p:txBody>
      </p:sp>
      <p:sp>
        <p:nvSpPr>
          <p:cNvPr id="7" name="sp7"/>
          <p:cNvSpPr>
            <a:spLocks noGrp="1"/>
          </p:cNvSpPr>
          <p:nvPr/>
        </p:nvSpPr>
        <p:spPr>
          <a:xfrm>
            <a:off x="108000" y="1188000"/>
            <a:ext cx="2340000" cy="396000"/>
          </a:xfrm>
          <a:prstGeom prst="rect">
            <a:avLst/>
          </a:prstGeom>
          <a:solidFill>
            <a:srgbClr val="375623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100" dirty="0" b="1" i="0">
                <a:solidFill>
                  <a:srgbClr val="FFFFFF"/>
                </a:solidFill>
                <a:latin typeface="Calibri"/>
              </a:rPr>
              <a:t>✅  MANFIY ZONA</a:t>
            </a:r>
          </a:p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100" dirty="0" b="1" i="0">
                <a:solidFill>
                  <a:srgbClr val="FFFFFF"/>
                </a:solidFill>
                <a:latin typeface="Calibri"/>
              </a:rPr>
              <a:t>x &lt; TL − U</a:t>
            </a:r>
          </a:p>
        </p:txBody>
      </p:sp>
      <p:sp>
        <p:nvSpPr>
          <p:cNvPr id="8" name="sp8"/>
          <p:cNvSpPr>
            <a:spLocks noGrp="1"/>
          </p:cNvSpPr>
          <p:nvPr/>
        </p:nvSpPr>
        <p:spPr>
          <a:xfrm>
            <a:off x="2448000" y="1188000"/>
            <a:ext cx="1440000" cy="396000"/>
          </a:xfrm>
          <a:prstGeom prst="rect">
            <a:avLst/>
          </a:prstGeom>
          <a:solidFill>
            <a:srgbClr val="F4B942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100" dirty="0" b="1" i="0">
                <a:solidFill>
                  <a:srgbClr val="FFFFFF"/>
                </a:solidFill>
                <a:latin typeface="Calibri"/>
              </a:rPr>
              <a:t>🟡  NOANIQLIK</a:t>
            </a:r>
          </a:p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100" dirty="0" b="1" i="0">
                <a:solidFill>
                  <a:srgbClr val="FFFFFF"/>
                </a:solidFill>
                <a:latin typeface="Calibri"/>
              </a:rPr>
              <a:t>ZONASI</a:t>
            </a:r>
          </a:p>
        </p:txBody>
      </p:sp>
      <p:sp>
        <p:nvSpPr>
          <p:cNvPr id="9" name="sp9"/>
          <p:cNvSpPr>
            <a:spLocks noGrp="1"/>
          </p:cNvSpPr>
          <p:nvPr/>
        </p:nvSpPr>
        <p:spPr>
          <a:xfrm>
            <a:off x="3888000" y="1188000"/>
            <a:ext cx="1800000" cy="396000"/>
          </a:xfrm>
          <a:prstGeom prst="rect">
            <a:avLst/>
          </a:prstGeom>
          <a:solidFill>
            <a:srgbClr val="FFD966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100" dirty="0" b="1" i="0">
                <a:solidFill>
                  <a:srgbClr val="1F3864"/>
                </a:solidFill>
                <a:latin typeface="Calibri"/>
              </a:rPr>
              <a:t>⚠ CHEGARA</a:t>
            </a:r>
          </a:p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100" dirty="0" b="1" i="0">
                <a:solidFill>
                  <a:srgbClr val="1F3864"/>
                </a:solidFill>
                <a:latin typeface="Calibri"/>
              </a:rPr>
              <a:t>HUDUDI ±U</a:t>
            </a:r>
          </a:p>
        </p:txBody>
      </p:sp>
      <p:sp>
        <p:nvSpPr>
          <p:cNvPr id="10" name="sp10"/>
          <p:cNvSpPr>
            <a:spLocks noGrp="1"/>
          </p:cNvSpPr>
          <p:nvPr/>
        </p:nvSpPr>
        <p:spPr>
          <a:xfrm>
            <a:off x="5688000" y="1188000"/>
            <a:ext cx="3131999" cy="396000"/>
          </a:xfrm>
          <a:prstGeom prst="rect">
            <a:avLst/>
          </a:prstGeom>
          <a:solidFill>
            <a:srgbClr val="C00000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100" dirty="0" b="1" i="0">
                <a:solidFill>
                  <a:srgbClr val="FFFFFF"/>
                </a:solidFill>
                <a:latin typeface="Calibri"/>
              </a:rPr>
              <a:t>🔴  MUSBAT ZONA</a:t>
            </a:r>
          </a:p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100" dirty="0" b="1" i="0">
                <a:solidFill>
                  <a:srgbClr val="FFFFFF"/>
                </a:solidFill>
                <a:latin typeface="Calibri"/>
              </a:rPr>
              <a:t>x &gt; TL + U</a:t>
            </a:r>
          </a:p>
        </p:txBody>
      </p:sp>
      <p:sp>
        <p:nvSpPr>
          <p:cNvPr id="11" name="sp11"/>
          <p:cNvSpPr>
            <a:spLocks noGrp="1"/>
          </p:cNvSpPr>
          <p:nvPr/>
        </p:nvSpPr>
        <p:spPr>
          <a:xfrm>
            <a:off x="2340000" y="972000"/>
            <a:ext cx="720000" cy="180000"/>
          </a:xfrm>
          <a:prstGeom prst="rect">
            <a:avLst/>
          </a:prstGeom>
          <a:noFill/>
        </p:spPr>
        <p:txBody>
          <a:bodyPr anchor="t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000" dirty="0" b="1" i="0">
                <a:solidFill>
                  <a:srgbClr val="C00000"/>
                </a:solidFill>
                <a:latin typeface="Calibri"/>
              </a:rPr>
              <a:t>TL − U</a:t>
            </a:r>
          </a:p>
        </p:txBody>
      </p:sp>
      <p:sp>
        <p:nvSpPr>
          <p:cNvPr id="12" name="sp12"/>
          <p:cNvSpPr>
            <a:spLocks noGrp="1"/>
          </p:cNvSpPr>
          <p:nvPr/>
        </p:nvSpPr>
        <p:spPr>
          <a:xfrm>
            <a:off x="5580000" y="972000"/>
            <a:ext cx="540000" cy="180000"/>
          </a:xfrm>
          <a:prstGeom prst="rect">
            <a:avLst/>
          </a:prstGeom>
          <a:noFill/>
        </p:spPr>
        <p:txBody>
          <a:bodyPr anchor="t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100" dirty="0" b="1" i="0">
                <a:solidFill>
                  <a:srgbClr val="1F3864"/>
                </a:solidFill>
                <a:latin typeface="Calibri"/>
              </a:rPr>
              <a:t>TL</a:t>
            </a:r>
          </a:p>
        </p:txBody>
      </p:sp>
      <p:sp>
        <p:nvSpPr>
          <p:cNvPr id="13" name="sp13"/>
          <p:cNvSpPr>
            <a:spLocks noGrp="1"/>
          </p:cNvSpPr>
          <p:nvPr/>
        </p:nvSpPr>
        <p:spPr>
          <a:xfrm>
            <a:off x="7740000" y="972000"/>
            <a:ext cx="720000" cy="180000"/>
          </a:xfrm>
          <a:prstGeom prst="rect">
            <a:avLst/>
          </a:prstGeom>
          <a:noFill/>
        </p:spPr>
        <p:txBody>
          <a:bodyPr anchor="t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000" dirty="0" b="1" i="0">
                <a:solidFill>
                  <a:srgbClr val="C00000"/>
                </a:solidFill>
                <a:latin typeface="Calibri"/>
              </a:rPr>
              <a:t>TL + U</a:t>
            </a:r>
          </a:p>
        </p:txBody>
      </p:sp>
      <p:sp>
        <p:nvSpPr>
          <p:cNvPr id="14" name="sp14"/>
          <p:cNvSpPr>
            <a:spLocks noGrp="1"/>
          </p:cNvSpPr>
          <p:nvPr/>
        </p:nvSpPr>
        <p:spPr>
          <a:xfrm>
            <a:off x="108000" y="1674000"/>
            <a:ext cx="2160000" cy="251999"/>
          </a:xfrm>
          <a:prstGeom prst="rect">
            <a:avLst/>
          </a:prstGeom>
          <a:solidFill>
            <a:srgbClr val="2E75B6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900" dirty="0" b="1" i="0">
                <a:solidFill>
                  <a:srgbClr val="FFFFFF"/>
                </a:solidFill>
                <a:latin typeface="Calibri"/>
              </a:rPr>
              <a:t>1. ODDIY QABUL</a:t>
            </a:r>
          </a:p>
        </p:txBody>
      </p:sp>
      <p:sp>
        <p:nvSpPr>
          <p:cNvPr id="15" name="sp15"/>
          <p:cNvSpPr>
            <a:spLocks noGrp="1"/>
          </p:cNvSpPr>
          <p:nvPr/>
        </p:nvSpPr>
        <p:spPr>
          <a:xfrm>
            <a:off x="108000" y="1925999"/>
            <a:ext cx="2160000" cy="864000"/>
          </a:xfrm>
          <a:prstGeom prst="rect">
            <a:avLst/>
          </a:prstGeom>
          <a:solidFill>
            <a:srgbClr val="F2F2F2"/>
          </a:solidFill>
          <a:ln>
            <a:solidFill>
              <a:srgbClr val="CCCCCC"/>
            </a:solidFill>
          </a:ln>
        </p:spPr>
        <p:txBody>
          <a:bodyPr anchor="t" lIns="108000" tIns="72000" rIns="108000" bIns="72000" wrap="square"/>
          <a:lstStyle/>
          <a:p>
            <a:pPr algn="l" indent="0">
              <a:spcBef>
                <a:spcPts val="300"/>
              </a:spcBef>
              <a:spcAft>
                <a:spcPts val="300"/>
              </a:spcAft>
            </a:pPr>
            <a:r>
              <a:rPr lang="uz-UZ" sz="900" dirty="0" b="1" i="0">
                <a:solidFill>
                  <a:srgbClr val="2E75B6"/>
                </a:solidFill>
                <a:latin typeface="Calibri"/>
              </a:rPr>
              <a:t>• </a:t>
            </a:r>
            <a:r>
              <a:rPr lang="uz-UZ" sz="900" dirty="0" b="0" i="0">
                <a:solidFill>
                  <a:srgbClr val="000000"/>
                </a:solidFill>
                <a:latin typeface="Calibri"/>
              </a:rPr>
              <a:t>• Noaniqlik hisobga olinmaydi</a:t>
            </a:r>
          </a:p>
          <a:p>
            <a:pPr algn="l" indent="0">
              <a:spcBef>
                <a:spcPts val="300"/>
              </a:spcBef>
              <a:spcAft>
                <a:spcPts val="300"/>
              </a:spcAft>
            </a:pPr>
            <a:r>
              <a:rPr lang="uz-UZ" sz="900" dirty="0" b="1" i="0">
                <a:solidFill>
                  <a:srgbClr val="2E75B6"/>
                </a:solidFill>
                <a:latin typeface="Calibri"/>
              </a:rPr>
              <a:t>• </a:t>
            </a:r>
            <a:r>
              <a:rPr lang="uz-UZ" sz="900" dirty="0" b="0" i="0">
                <a:solidFill>
                  <a:srgbClr val="000000"/>
                </a:solidFill>
                <a:latin typeface="Calibri"/>
              </a:rPr>
              <a:t>• x &gt; TL → MUSBAT</a:t>
            </a:r>
          </a:p>
          <a:p>
            <a:pPr algn="l" indent="0">
              <a:spcBef>
                <a:spcPts val="300"/>
              </a:spcBef>
              <a:spcAft>
                <a:spcPts val="300"/>
              </a:spcAft>
            </a:pPr>
            <a:r>
              <a:rPr lang="uz-UZ" sz="900" dirty="0" b="1" i="0">
                <a:solidFill>
                  <a:srgbClr val="2E75B6"/>
                </a:solidFill>
                <a:latin typeface="Calibri"/>
              </a:rPr>
              <a:t>• </a:t>
            </a:r>
            <a:r>
              <a:rPr lang="uz-UZ" sz="900" dirty="0" b="0" i="0">
                <a:solidFill>
                  <a:srgbClr val="000000"/>
                </a:solidFill>
                <a:latin typeface="Calibri"/>
              </a:rPr>
              <a:t>• Qonuniy jihatdan zaif!</a:t>
            </a:r>
          </a:p>
          <a:p>
            <a:pPr algn="l" indent="0">
              <a:spcBef>
                <a:spcPts val="300"/>
              </a:spcBef>
              <a:spcAft>
                <a:spcPts val="300"/>
              </a:spcAft>
            </a:pPr>
            <a:r>
              <a:rPr lang="uz-UZ" sz="900" dirty="0" b="1" i="0">
                <a:solidFill>
                  <a:srgbClr val="2E75B6"/>
                </a:solidFill>
                <a:latin typeface="Calibri"/>
              </a:rPr>
              <a:t>• </a:t>
            </a:r>
            <a:r>
              <a:rPr lang="uz-UZ" sz="900" dirty="0" b="0" i="0">
                <a:solidFill>
                  <a:srgbClr val="000000"/>
                </a:solidFill>
                <a:latin typeface="Calibri"/>
              </a:rPr>
              <a:t>• Faqat mijoz rozi bo'lsa</a:t>
            </a:r>
          </a:p>
        </p:txBody>
      </p:sp>
      <p:sp>
        <p:nvSpPr>
          <p:cNvPr id="16" name="sp16"/>
          <p:cNvSpPr>
            <a:spLocks noGrp="1"/>
          </p:cNvSpPr>
          <p:nvPr/>
        </p:nvSpPr>
        <p:spPr>
          <a:xfrm>
            <a:off x="2340000" y="1674000"/>
            <a:ext cx="2160000" cy="251999"/>
          </a:xfrm>
          <a:prstGeom prst="rect">
            <a:avLst/>
          </a:prstGeom>
          <a:solidFill>
            <a:srgbClr val="375623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900" dirty="0" b="1" i="0">
                <a:solidFill>
                  <a:srgbClr val="FFFFFF"/>
                </a:solidFill>
                <a:latin typeface="Calibri"/>
              </a:rPr>
              <a:t>2. TAQSIMLANGAN RISK</a:t>
            </a:r>
          </a:p>
        </p:txBody>
      </p:sp>
      <p:sp>
        <p:nvSpPr>
          <p:cNvPr id="17" name="sp17"/>
          <p:cNvSpPr>
            <a:spLocks noGrp="1"/>
          </p:cNvSpPr>
          <p:nvPr/>
        </p:nvSpPr>
        <p:spPr>
          <a:xfrm>
            <a:off x="2340000" y="1925999"/>
            <a:ext cx="2160000" cy="864000"/>
          </a:xfrm>
          <a:prstGeom prst="rect">
            <a:avLst/>
          </a:prstGeom>
          <a:solidFill>
            <a:srgbClr val="F2F2F2"/>
          </a:solidFill>
          <a:ln>
            <a:solidFill>
              <a:srgbClr val="CCCCCC"/>
            </a:solidFill>
          </a:ln>
        </p:spPr>
        <p:txBody>
          <a:bodyPr anchor="t" lIns="108000" tIns="72000" rIns="108000" bIns="72000" wrap="square"/>
          <a:lstStyle/>
          <a:p>
            <a:pPr algn="l" indent="0">
              <a:spcBef>
                <a:spcPts val="300"/>
              </a:spcBef>
              <a:spcAft>
                <a:spcPts val="300"/>
              </a:spcAft>
            </a:pPr>
            <a:r>
              <a:rPr lang="uz-UZ" sz="900" dirty="0" b="1" i="0">
                <a:solidFill>
                  <a:srgbClr val="375623"/>
                </a:solidFill>
                <a:latin typeface="Calibri"/>
              </a:rPr>
              <a:t>• </a:t>
            </a:r>
            <a:r>
              <a:rPr lang="uz-UZ" sz="900" dirty="0" b="0" i="0">
                <a:solidFill>
                  <a:srgbClr val="000000"/>
                </a:solidFill>
                <a:latin typeface="Calibri"/>
              </a:rPr>
              <a:t>• x &gt; TL → Musbat</a:t>
            </a:r>
          </a:p>
          <a:p>
            <a:pPr algn="l" indent="0">
              <a:spcBef>
                <a:spcPts val="300"/>
              </a:spcBef>
              <a:spcAft>
                <a:spcPts val="300"/>
              </a:spcAft>
            </a:pPr>
            <a:r>
              <a:rPr lang="uz-UZ" sz="900" dirty="0" b="1" i="0">
                <a:solidFill>
                  <a:srgbClr val="375623"/>
                </a:solidFill>
                <a:latin typeface="Calibri"/>
              </a:rPr>
              <a:t>• </a:t>
            </a:r>
            <a:r>
              <a:rPr lang="uz-UZ" sz="900" dirty="0" b="0" i="0">
                <a:solidFill>
                  <a:srgbClr val="000000"/>
                </a:solidFill>
                <a:latin typeface="Calibri"/>
              </a:rPr>
              <a:t>• Yolg'on +/- risk teng</a:t>
            </a:r>
          </a:p>
          <a:p>
            <a:pPr algn="l" indent="0">
              <a:spcBef>
                <a:spcPts val="300"/>
              </a:spcBef>
              <a:spcAft>
                <a:spcPts val="300"/>
              </a:spcAft>
            </a:pPr>
            <a:r>
              <a:rPr lang="uz-UZ" sz="900" dirty="0" b="1" i="0">
                <a:solidFill>
                  <a:srgbClr val="375623"/>
                </a:solidFill>
                <a:latin typeface="Calibri"/>
              </a:rPr>
              <a:t>• </a:t>
            </a:r>
            <a:r>
              <a:rPr lang="uz-UZ" sz="900" dirty="0" b="0" i="0">
                <a:solidFill>
                  <a:srgbClr val="000000"/>
                </a:solidFill>
                <a:latin typeface="Calibri"/>
              </a:rPr>
              <a:t>• Har ikki tomon baham ko'radi</a:t>
            </a:r>
          </a:p>
          <a:p>
            <a:pPr algn="l" indent="0">
              <a:spcBef>
                <a:spcPts val="300"/>
              </a:spcBef>
              <a:spcAft>
                <a:spcPts val="300"/>
              </a:spcAft>
            </a:pPr>
            <a:r>
              <a:rPr lang="uz-UZ" sz="900" dirty="0" b="1" i="0">
                <a:solidFill>
                  <a:srgbClr val="375623"/>
                </a:solidFill>
                <a:latin typeface="Calibri"/>
              </a:rPr>
              <a:t>• </a:t>
            </a:r>
            <a:r>
              <a:rPr lang="uz-UZ" sz="900" dirty="0" b="0" i="0">
                <a:solidFill>
                  <a:srgbClr val="000000"/>
                </a:solidFill>
                <a:latin typeface="Calibri"/>
              </a:rPr>
              <a:t>• O'rta risk holatlarda</a:t>
            </a:r>
          </a:p>
        </p:txBody>
      </p:sp>
      <p:sp>
        <p:nvSpPr>
          <p:cNvPr id="18" name="sp18"/>
          <p:cNvSpPr>
            <a:spLocks noGrp="1"/>
          </p:cNvSpPr>
          <p:nvPr/>
        </p:nvSpPr>
        <p:spPr>
          <a:xfrm>
            <a:off x="4572000" y="1674000"/>
            <a:ext cx="2160000" cy="251999"/>
          </a:xfrm>
          <a:prstGeom prst="rect">
            <a:avLst/>
          </a:prstGeom>
          <a:solidFill>
            <a:srgbClr val="C55A11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900" dirty="0" b="1" i="0">
                <a:solidFill>
                  <a:srgbClr val="FFFFFF"/>
                </a:solidFill>
                <a:latin typeface="Calibri"/>
              </a:rPr>
              <a:t>3. QAT'IY GUARD BAND</a:t>
            </a:r>
          </a:p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900" dirty="0" b="1" i="0">
                <a:solidFill>
                  <a:srgbClr val="FFFFFF"/>
                </a:solidFill>
                <a:latin typeface="Calibri"/>
              </a:rPr>
              <a:t>(w = U) — TAVSIYA</a:t>
            </a:r>
          </a:p>
        </p:txBody>
      </p:sp>
      <p:sp>
        <p:nvSpPr>
          <p:cNvPr id="19" name="sp19"/>
          <p:cNvSpPr>
            <a:spLocks noGrp="1"/>
          </p:cNvSpPr>
          <p:nvPr/>
        </p:nvSpPr>
        <p:spPr>
          <a:xfrm>
            <a:off x="4572000" y="1925999"/>
            <a:ext cx="2160000" cy="864000"/>
          </a:xfrm>
          <a:prstGeom prst="rect">
            <a:avLst/>
          </a:prstGeom>
          <a:solidFill>
            <a:srgbClr val="F2F2F2"/>
          </a:solidFill>
          <a:ln>
            <a:solidFill>
              <a:srgbClr val="CCCCCC"/>
            </a:solidFill>
          </a:ln>
        </p:spPr>
        <p:txBody>
          <a:bodyPr anchor="t" lIns="108000" tIns="72000" rIns="108000" bIns="72000" wrap="square"/>
          <a:lstStyle/>
          <a:p>
            <a:pPr algn="l" indent="0">
              <a:spcBef>
                <a:spcPts val="300"/>
              </a:spcBef>
              <a:spcAft>
                <a:spcPts val="300"/>
              </a:spcAft>
            </a:pPr>
            <a:r>
              <a:rPr lang="uz-UZ" sz="900" dirty="0" b="1" i="0">
                <a:solidFill>
                  <a:srgbClr val="C55A11"/>
                </a:solidFill>
                <a:latin typeface="Calibri"/>
              </a:rPr>
              <a:t>• </a:t>
            </a:r>
            <a:r>
              <a:rPr lang="uz-UZ" sz="900" dirty="0" b="0" i="0">
                <a:solidFill>
                  <a:srgbClr val="000000"/>
                </a:solidFill>
                <a:latin typeface="Calibri"/>
              </a:rPr>
              <a:t>• x ≥ TL+U → Musbat ✓</a:t>
            </a:r>
          </a:p>
          <a:p>
            <a:pPr algn="l" indent="0">
              <a:spcBef>
                <a:spcPts val="300"/>
              </a:spcBef>
              <a:spcAft>
                <a:spcPts val="300"/>
              </a:spcAft>
            </a:pPr>
            <a:r>
              <a:rPr lang="uz-UZ" sz="900" dirty="0" b="1" i="0">
                <a:solidFill>
                  <a:srgbClr val="C55A11"/>
                </a:solidFill>
                <a:latin typeface="Calibri"/>
              </a:rPr>
              <a:t>• </a:t>
            </a:r>
            <a:r>
              <a:rPr lang="uz-UZ" sz="900" dirty="0" b="0" i="0">
                <a:solidFill>
                  <a:srgbClr val="000000"/>
                </a:solidFill>
                <a:latin typeface="Calibri"/>
              </a:rPr>
              <a:t>• x ≤ TL−U → Manfiy ✓</a:t>
            </a:r>
          </a:p>
          <a:p>
            <a:pPr algn="l" indent="0">
              <a:spcBef>
                <a:spcPts val="300"/>
              </a:spcBef>
              <a:spcAft>
                <a:spcPts val="300"/>
              </a:spcAft>
            </a:pPr>
            <a:r>
              <a:rPr lang="uz-UZ" sz="900" dirty="0" b="1" i="0">
                <a:solidFill>
                  <a:srgbClr val="C55A11"/>
                </a:solidFill>
                <a:latin typeface="Calibri"/>
              </a:rPr>
              <a:t>• </a:t>
            </a:r>
            <a:r>
              <a:rPr lang="uz-UZ" sz="900" dirty="0" b="0" i="0">
                <a:solidFill>
                  <a:srgbClr val="000000"/>
                </a:solidFill>
                <a:latin typeface="Calibri"/>
              </a:rPr>
              <a:t>• Oradagilar: noaniq</a:t>
            </a:r>
          </a:p>
          <a:p>
            <a:pPr algn="l" indent="0">
              <a:spcBef>
                <a:spcPts val="300"/>
              </a:spcBef>
              <a:spcAft>
                <a:spcPts val="300"/>
              </a:spcAft>
            </a:pPr>
            <a:r>
              <a:rPr lang="uz-UZ" sz="900" dirty="0" b="1" i="0">
                <a:solidFill>
                  <a:srgbClr val="C55A11"/>
                </a:solidFill>
                <a:latin typeface="Calibri"/>
              </a:rPr>
              <a:t>• </a:t>
            </a:r>
            <a:r>
              <a:rPr lang="uz-UZ" sz="900" dirty="0" b="0" i="0">
                <a:solidFill>
                  <a:srgbClr val="000000"/>
                </a:solidFill>
                <a:latin typeface="Calibri"/>
              </a:rPr>
              <a:t>• Forensik/huquqiy uchun</a:t>
            </a:r>
          </a:p>
        </p:txBody>
      </p:sp>
      <p:sp>
        <p:nvSpPr>
          <p:cNvPr id="20" name="sp20"/>
          <p:cNvSpPr>
            <a:spLocks noGrp="1"/>
          </p:cNvSpPr>
          <p:nvPr/>
        </p:nvSpPr>
        <p:spPr>
          <a:xfrm>
            <a:off x="6804000" y="1674000"/>
            <a:ext cx="2160000" cy="251999"/>
          </a:xfrm>
          <a:prstGeom prst="rect">
            <a:avLst/>
          </a:prstGeom>
          <a:solidFill>
            <a:srgbClr val="7030A0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900" dirty="0" b="1" i="0">
                <a:solidFill>
                  <a:srgbClr val="FFFFFF"/>
                </a:solidFill>
                <a:latin typeface="Calibri"/>
              </a:rPr>
              <a:t>4. YUMSHOQ GUARD BAND</a:t>
            </a:r>
          </a:p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900" dirty="0" b="1" i="0">
                <a:solidFill>
                  <a:srgbClr val="FFFFFF"/>
                </a:solidFill>
                <a:latin typeface="Calibri"/>
              </a:rPr>
              <a:t>(klinik uchun)</a:t>
            </a:r>
          </a:p>
        </p:txBody>
      </p:sp>
      <p:sp>
        <p:nvSpPr>
          <p:cNvPr id="21" name="sp21"/>
          <p:cNvSpPr>
            <a:spLocks noGrp="1"/>
          </p:cNvSpPr>
          <p:nvPr/>
        </p:nvSpPr>
        <p:spPr>
          <a:xfrm>
            <a:off x="6804000" y="1925999"/>
            <a:ext cx="2160000" cy="864000"/>
          </a:xfrm>
          <a:prstGeom prst="rect">
            <a:avLst/>
          </a:prstGeom>
          <a:solidFill>
            <a:srgbClr val="F2F2F2"/>
          </a:solidFill>
          <a:ln>
            <a:solidFill>
              <a:srgbClr val="CCCCCC"/>
            </a:solidFill>
          </a:ln>
        </p:spPr>
        <p:txBody>
          <a:bodyPr anchor="t" lIns="108000" tIns="72000" rIns="108000" bIns="72000" wrap="square"/>
          <a:lstStyle/>
          <a:p>
            <a:pPr algn="l" indent="0">
              <a:spcBef>
                <a:spcPts val="300"/>
              </a:spcBef>
              <a:spcAft>
                <a:spcPts val="300"/>
              </a:spcAft>
            </a:pPr>
            <a:r>
              <a:rPr lang="uz-UZ" sz="900" dirty="0" b="1" i="0">
                <a:solidFill>
                  <a:srgbClr val="7030A0"/>
                </a:solidFill>
                <a:latin typeface="Calibri"/>
              </a:rPr>
              <a:t>• </a:t>
            </a:r>
            <a:r>
              <a:rPr lang="uz-UZ" sz="900" dirty="0" b="0" i="0">
                <a:solidFill>
                  <a:srgbClr val="000000"/>
                </a:solidFill>
                <a:latin typeface="Calibri"/>
              </a:rPr>
              <a:t>• x ≥ TL−U → Musbat</a:t>
            </a:r>
          </a:p>
          <a:p>
            <a:pPr algn="l" indent="0">
              <a:spcBef>
                <a:spcPts val="300"/>
              </a:spcBef>
              <a:spcAft>
                <a:spcPts val="300"/>
              </a:spcAft>
            </a:pPr>
            <a:r>
              <a:rPr lang="uz-UZ" sz="900" dirty="0" b="1" i="0">
                <a:solidFill>
                  <a:srgbClr val="7030A0"/>
                </a:solidFill>
                <a:latin typeface="Calibri"/>
              </a:rPr>
              <a:t>• </a:t>
            </a:r>
            <a:r>
              <a:rPr lang="uz-UZ" sz="900" dirty="0" b="0" i="0">
                <a:solidFill>
                  <a:srgbClr val="000000"/>
                </a:solidFill>
                <a:latin typeface="Calibri"/>
              </a:rPr>
              <a:t>• Yolg'on manfiy minimal</a:t>
            </a:r>
          </a:p>
          <a:p>
            <a:pPr algn="l" indent="0">
              <a:spcBef>
                <a:spcPts val="300"/>
              </a:spcBef>
              <a:spcAft>
                <a:spcPts val="300"/>
              </a:spcAft>
            </a:pPr>
            <a:r>
              <a:rPr lang="uz-UZ" sz="900" dirty="0" b="1" i="0">
                <a:solidFill>
                  <a:srgbClr val="7030A0"/>
                </a:solidFill>
                <a:latin typeface="Calibri"/>
              </a:rPr>
              <a:t>• </a:t>
            </a:r>
            <a:r>
              <a:rPr lang="uz-UZ" sz="900" dirty="0" b="0" i="0">
                <a:solidFill>
                  <a:srgbClr val="000000"/>
                </a:solidFill>
                <a:latin typeface="Calibri"/>
              </a:rPr>
              <a:t>• Klinik favqulodda hollarda</a:t>
            </a:r>
          </a:p>
          <a:p>
            <a:pPr algn="l" indent="0">
              <a:spcBef>
                <a:spcPts val="300"/>
              </a:spcBef>
              <a:spcAft>
                <a:spcPts val="300"/>
              </a:spcAft>
            </a:pPr>
            <a:r>
              <a:rPr lang="uz-UZ" sz="900" dirty="0" b="1" i="0">
                <a:solidFill>
                  <a:srgbClr val="7030A0"/>
                </a:solidFill>
                <a:latin typeface="Calibri"/>
              </a:rPr>
              <a:t>• </a:t>
            </a:r>
            <a:r>
              <a:rPr lang="uz-UZ" sz="900" dirty="0" b="0" i="0">
                <a:solidFill>
                  <a:srgbClr val="000000"/>
                </a:solidFill>
                <a:latin typeface="Calibri"/>
              </a:rPr>
              <a:t>• Xavfli moddalar uchun</a:t>
            </a:r>
          </a:p>
        </p:txBody>
      </p:sp>
      <p:sp>
        <p:nvSpPr>
          <p:cNvPr id="22" name="sp22"/>
          <p:cNvSpPr>
            <a:spLocks noGrp="1"/>
          </p:cNvSpPr>
          <p:nvPr/>
        </p:nvSpPr>
        <p:spPr>
          <a:xfrm>
            <a:off x="108000" y="2862000"/>
            <a:ext cx="8928000" cy="234000"/>
          </a:xfrm>
          <a:prstGeom prst="rect">
            <a:avLst/>
          </a:prstGeom>
          <a:solidFill>
            <a:srgbClr val="1F3864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200" dirty="0" b="1" i="0">
                <a:solidFill>
                  <a:srgbClr val="FFFFFF"/>
                </a:solidFill>
                <a:latin typeface="Calibri"/>
              </a:rPr>
              <a:t>TUR (Test Uncertainty Ratio) = Tolerans / (2×U)   →   TUR ≥ 4: Ishonchli qaror  |  TUR &lt; 2: Qaror ishonchsiz</a:t>
            </a: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1" name="sp1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BFF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400" dirty="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" name="sp2"/>
          <p:cNvSpPr>
            <a:spLocks noGrp="1"/>
          </p:cNvSpPr>
          <p:nvPr/>
        </p:nvSpPr>
        <p:spPr>
          <a:xfrm>
            <a:off x="0" y="0"/>
            <a:ext cx="9144000" cy="864000"/>
          </a:xfrm>
          <a:prstGeom prst="rect">
            <a:avLst/>
          </a:prstGeom>
          <a:solidFill>
            <a:srgbClr val="1F3864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400" dirty="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" name="sp3"/>
          <p:cNvSpPr>
            <a:spLocks noGrp="1"/>
          </p:cNvSpPr>
          <p:nvPr/>
        </p:nvSpPr>
        <p:spPr>
          <a:xfrm>
            <a:off x="108000" y="90000"/>
            <a:ext cx="432000" cy="360000"/>
          </a:xfrm>
          <a:prstGeom prst="rect">
            <a:avLst/>
          </a:prstGeom>
          <a:solidFill>
            <a:srgbClr val="00B0F0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2200" dirty="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" name="sp4"/>
          <p:cNvSpPr>
            <a:spLocks noGrp="1"/>
          </p:cNvSpPr>
          <p:nvPr/>
        </p:nvSpPr>
        <p:spPr>
          <a:xfrm>
            <a:off x="648000" y="72000"/>
            <a:ext cx="8316000" cy="432000"/>
          </a:xfrm>
          <a:prstGeom prst="rect">
            <a:avLst/>
          </a:prstGeom>
          <a:noFill/>
        </p:spPr>
        <p:txBody>
          <a:bodyPr anchor="ctr" lIns="91440" tIns="45720" rIns="91440" bIns="45720" wrap="square"/>
          <a:lstStyle/>
          <a:p>
            <a:pPr algn="l" indent="0">
              <a:spcBef>
                <a:spcPts val="0"/>
              </a:spcBef>
              <a:spcAft>
                <a:spcPts val="0"/>
              </a:spcAft>
            </a:pPr>
            <a:r>
              <a:rPr lang="uz-UZ" sz="2200" dirty="0" b="1" i="0">
                <a:solidFill>
                  <a:srgbClr val="FFFFFF"/>
                </a:solidFill>
                <a:latin typeface="Calibri"/>
              </a:rPr>
              <a:t>METROLOGIK KUZATILISH ZANJIRI VA CRM</a:t>
            </a:r>
          </a:p>
        </p:txBody>
      </p:sp>
      <p:sp>
        <p:nvSpPr>
          <p:cNvPr id="5" name="sp5"/>
          <p:cNvSpPr>
            <a:spLocks noGrp="1"/>
          </p:cNvSpPr>
          <p:nvPr/>
        </p:nvSpPr>
        <p:spPr>
          <a:xfrm>
            <a:off x="0" y="864000"/>
            <a:ext cx="9144000" cy="251999"/>
          </a:xfrm>
          <a:prstGeom prst="rect">
            <a:avLst/>
          </a:prstGeom>
          <a:solidFill>
            <a:srgbClr val="2E75B6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000" dirty="0" b="0" i="0">
                <a:solidFill>
                  <a:srgbClr val="FFFFFF"/>
                </a:solidFill>
                <a:latin typeface="Calibri"/>
              </a:rPr>
              <a:t>ISO/IEC 17025 Cl.6.6 | ILAC-P10:2022 | VIM §2.41 | EA-4/02</a:t>
            </a:r>
          </a:p>
        </p:txBody>
      </p:sp>
      <p:sp>
        <p:nvSpPr>
          <p:cNvPr id="6" name="sp6"/>
          <p:cNvSpPr>
            <a:spLocks noGrp="1"/>
          </p:cNvSpPr>
          <p:nvPr/>
        </p:nvSpPr>
        <p:spPr>
          <a:xfrm>
            <a:off x="0" y="4927500"/>
            <a:ext cx="9144000" cy="216000"/>
          </a:xfrm>
          <a:prstGeom prst="rect">
            <a:avLst/>
          </a:prstGeom>
          <a:solidFill>
            <a:srgbClr val="1F3864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800" dirty="0" b="0" i="0">
                <a:solidFill>
                  <a:srgbClr val="FFFFFF"/>
                </a:solidFill>
                <a:latin typeface="Calibri"/>
              </a:rPr>
              <a:t>VIM §2.41: Traceability — property of a measurement result relating it to a reference through a documented unbroken chain</a:t>
            </a:r>
          </a:p>
        </p:txBody>
      </p:sp>
      <p:sp>
        <p:nvSpPr>
          <p:cNvPr id="7" name="sp7"/>
          <p:cNvSpPr>
            <a:spLocks noGrp="1"/>
          </p:cNvSpPr>
          <p:nvPr/>
        </p:nvSpPr>
        <p:spPr>
          <a:xfrm>
            <a:off x="2862000" y="1080000"/>
            <a:ext cx="3420000" cy="432000"/>
          </a:xfrm>
          <a:prstGeom prst="rect">
            <a:avLst/>
          </a:prstGeom>
          <a:solidFill>
            <a:srgbClr val="1F3864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000" dirty="0" b="1" i="0">
                <a:solidFill>
                  <a:srgbClr val="FFFFFF"/>
                </a:solidFill>
                <a:latin typeface="Calibri"/>
              </a:rPr>
              <a:t>SI BIRLIKLARI (mol, kg, m, K)</a:t>
            </a:r>
          </a:p>
        </p:txBody>
      </p:sp>
      <p:sp>
        <p:nvSpPr>
          <p:cNvPr id="8" name="sp8"/>
          <p:cNvSpPr>
            <a:spLocks noGrp="1"/>
          </p:cNvSpPr>
          <p:nvPr/>
        </p:nvSpPr>
        <p:spPr>
          <a:xfrm>
            <a:off x="6354000" y="1152000"/>
            <a:ext cx="1800000" cy="288000"/>
          </a:xfrm>
          <a:prstGeom prst="rect">
            <a:avLst/>
          </a:prstGeom>
          <a:noFill/>
        </p:spPr>
        <p:txBody>
          <a:bodyPr anchor="t" lIns="91440" tIns="45720" rIns="91440" bIns="45720" wrap="square"/>
          <a:lstStyle/>
          <a:p>
            <a:pPr algn="l" indent="0">
              <a:spcBef>
                <a:spcPts val="0"/>
              </a:spcBef>
              <a:spcAft>
                <a:spcPts val="0"/>
              </a:spcAft>
            </a:pPr>
            <a:r>
              <a:rPr lang="uz-UZ" sz="900" dirty="0" b="0" i="1">
                <a:solidFill>
                  <a:srgbClr val="595959"/>
                </a:solidFill>
                <a:latin typeface="Calibri"/>
              </a:rPr>
              <a:t>BIPM / NMI</a:t>
            </a:r>
          </a:p>
        </p:txBody>
      </p:sp>
      <p:sp>
        <p:nvSpPr>
          <p:cNvPr id="9" name="sp9"/>
          <p:cNvSpPr>
            <a:spLocks noGrp="1"/>
          </p:cNvSpPr>
          <p:nvPr/>
        </p:nvSpPr>
        <p:spPr>
          <a:xfrm>
            <a:off x="4464000" y="1512000"/>
            <a:ext cx="288000" cy="90000"/>
          </a:xfrm>
          <a:prstGeom prst="rect">
            <a:avLst/>
          </a:prstGeom>
          <a:noFill/>
        </p:spPr>
        <p:txBody>
          <a:bodyPr anchor="t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900" dirty="0" b="0" i="0">
                <a:solidFill>
                  <a:srgbClr val="595959"/>
                </a:solidFill>
                <a:latin typeface="Calibri"/>
              </a:rPr>
              <a:t>▼</a:t>
            </a:r>
          </a:p>
        </p:txBody>
      </p:sp>
      <p:sp>
        <p:nvSpPr>
          <p:cNvPr id="10" name="sp10"/>
          <p:cNvSpPr>
            <a:spLocks noGrp="1"/>
          </p:cNvSpPr>
          <p:nvPr/>
        </p:nvSpPr>
        <p:spPr>
          <a:xfrm>
            <a:off x="3402000" y="1530000"/>
            <a:ext cx="2340000" cy="432000"/>
          </a:xfrm>
          <a:prstGeom prst="rect">
            <a:avLst/>
          </a:prstGeom>
          <a:solidFill>
            <a:srgbClr val="C00000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000" dirty="0" b="1" i="0">
                <a:solidFill>
                  <a:srgbClr val="FFFFFF"/>
                </a:solidFill>
                <a:latin typeface="Calibri"/>
              </a:rPr>
              <a:t>BIRLAMCHI ETALON &amp; CRM (NIST, LGC, BAM, IRMM)</a:t>
            </a:r>
          </a:p>
        </p:txBody>
      </p:sp>
      <p:sp>
        <p:nvSpPr>
          <p:cNvPr id="11" name="sp11"/>
          <p:cNvSpPr>
            <a:spLocks noGrp="1"/>
          </p:cNvSpPr>
          <p:nvPr/>
        </p:nvSpPr>
        <p:spPr>
          <a:xfrm>
            <a:off x="5814000" y="1602000"/>
            <a:ext cx="1800000" cy="288000"/>
          </a:xfrm>
          <a:prstGeom prst="rect">
            <a:avLst/>
          </a:prstGeom>
          <a:noFill/>
        </p:spPr>
        <p:txBody>
          <a:bodyPr anchor="t" lIns="91440" tIns="45720" rIns="91440" bIns="45720" wrap="square"/>
          <a:lstStyle/>
          <a:p>
            <a:pPr algn="l" indent="0">
              <a:spcBef>
                <a:spcPts val="0"/>
              </a:spcBef>
              <a:spcAft>
                <a:spcPts val="0"/>
              </a:spcAft>
            </a:pPr>
            <a:r>
              <a:rPr lang="uz-UZ" sz="900" dirty="0" b="0" i="1">
                <a:solidFill>
                  <a:srgbClr val="595959"/>
                </a:solidFill>
                <a:latin typeface="Calibri"/>
              </a:rPr>
              <a:t>U_ref ±δ%</a:t>
            </a:r>
          </a:p>
        </p:txBody>
      </p:sp>
      <p:sp>
        <p:nvSpPr>
          <p:cNvPr id="12" name="sp12"/>
          <p:cNvSpPr>
            <a:spLocks noGrp="1"/>
          </p:cNvSpPr>
          <p:nvPr/>
        </p:nvSpPr>
        <p:spPr>
          <a:xfrm>
            <a:off x="4464000" y="1962000"/>
            <a:ext cx="288000" cy="90000"/>
          </a:xfrm>
          <a:prstGeom prst="rect">
            <a:avLst/>
          </a:prstGeom>
          <a:noFill/>
        </p:spPr>
        <p:txBody>
          <a:bodyPr anchor="t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900" dirty="0" b="0" i="0">
                <a:solidFill>
                  <a:srgbClr val="595959"/>
                </a:solidFill>
                <a:latin typeface="Calibri"/>
              </a:rPr>
              <a:t>▼</a:t>
            </a:r>
          </a:p>
        </p:txBody>
      </p:sp>
      <p:sp>
        <p:nvSpPr>
          <p:cNvPr id="13" name="sp13"/>
          <p:cNvSpPr>
            <a:spLocks noGrp="1"/>
          </p:cNvSpPr>
          <p:nvPr/>
        </p:nvSpPr>
        <p:spPr>
          <a:xfrm>
            <a:off x="3672000" y="1980000"/>
            <a:ext cx="1800000" cy="432000"/>
          </a:xfrm>
          <a:prstGeom prst="rect">
            <a:avLst/>
          </a:prstGeom>
          <a:solidFill>
            <a:srgbClr val="2E75B6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000" dirty="0" b="1" i="0">
                <a:solidFill>
                  <a:srgbClr val="FFFFFF"/>
                </a:solidFill>
                <a:latin typeface="Calibri"/>
              </a:rPr>
              <a:t>IKKILAMCHI STANDART / IN-HOUSE CRM</a:t>
            </a:r>
          </a:p>
        </p:txBody>
      </p:sp>
      <p:sp>
        <p:nvSpPr>
          <p:cNvPr id="14" name="sp14"/>
          <p:cNvSpPr>
            <a:spLocks noGrp="1"/>
          </p:cNvSpPr>
          <p:nvPr/>
        </p:nvSpPr>
        <p:spPr>
          <a:xfrm>
            <a:off x="5544000" y="2052000"/>
            <a:ext cx="1800000" cy="288000"/>
          </a:xfrm>
          <a:prstGeom prst="rect">
            <a:avLst/>
          </a:prstGeom>
          <a:noFill/>
        </p:spPr>
        <p:txBody>
          <a:bodyPr anchor="t" lIns="91440" tIns="45720" rIns="91440" bIns="45720" wrap="square"/>
          <a:lstStyle/>
          <a:p>
            <a:pPr algn="l" indent="0">
              <a:spcBef>
                <a:spcPts val="0"/>
              </a:spcBef>
              <a:spcAft>
                <a:spcPts val="0"/>
              </a:spcAft>
            </a:pPr>
            <a:r>
              <a:rPr lang="uz-UZ" sz="900" dirty="0" b="0" i="1">
                <a:solidFill>
                  <a:srgbClr val="595959"/>
                </a:solidFill>
                <a:latin typeface="Calibri"/>
              </a:rPr>
              <a:t>Sertifikat + U</a:t>
            </a:r>
          </a:p>
        </p:txBody>
      </p:sp>
      <p:sp>
        <p:nvSpPr>
          <p:cNvPr id="15" name="sp15"/>
          <p:cNvSpPr>
            <a:spLocks noGrp="1"/>
          </p:cNvSpPr>
          <p:nvPr/>
        </p:nvSpPr>
        <p:spPr>
          <a:xfrm>
            <a:off x="4464000" y="2412000"/>
            <a:ext cx="288000" cy="90000"/>
          </a:xfrm>
          <a:prstGeom prst="rect">
            <a:avLst/>
          </a:prstGeom>
          <a:noFill/>
        </p:spPr>
        <p:txBody>
          <a:bodyPr anchor="t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900" dirty="0" b="0" i="0">
                <a:solidFill>
                  <a:srgbClr val="595959"/>
                </a:solidFill>
                <a:latin typeface="Calibri"/>
              </a:rPr>
              <a:t>▼</a:t>
            </a:r>
          </a:p>
        </p:txBody>
      </p:sp>
      <p:sp>
        <p:nvSpPr>
          <p:cNvPr id="16" name="sp16"/>
          <p:cNvSpPr>
            <a:spLocks noGrp="1"/>
          </p:cNvSpPr>
          <p:nvPr/>
        </p:nvSpPr>
        <p:spPr>
          <a:xfrm>
            <a:off x="3852000" y="2430000"/>
            <a:ext cx="1440000" cy="432000"/>
          </a:xfrm>
          <a:prstGeom prst="rect">
            <a:avLst/>
          </a:prstGeom>
          <a:solidFill>
            <a:srgbClr val="375623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000" dirty="0" b="1" i="0">
                <a:solidFill>
                  <a:srgbClr val="FFFFFF"/>
                </a:solidFill>
                <a:latin typeface="Calibri"/>
              </a:rPr>
              <a:t>ISHCHI KALIBRASIYA STANDARTLARI</a:t>
            </a:r>
          </a:p>
        </p:txBody>
      </p:sp>
      <p:sp>
        <p:nvSpPr>
          <p:cNvPr id="17" name="sp17"/>
          <p:cNvSpPr>
            <a:spLocks noGrp="1"/>
          </p:cNvSpPr>
          <p:nvPr/>
        </p:nvSpPr>
        <p:spPr>
          <a:xfrm>
            <a:off x="5364000" y="2502000"/>
            <a:ext cx="1800000" cy="288000"/>
          </a:xfrm>
          <a:prstGeom prst="rect">
            <a:avLst/>
          </a:prstGeom>
          <a:noFill/>
        </p:spPr>
        <p:txBody>
          <a:bodyPr anchor="t" lIns="91440" tIns="45720" rIns="91440" bIns="45720" wrap="square"/>
          <a:lstStyle/>
          <a:p>
            <a:pPr algn="l" indent="0">
              <a:spcBef>
                <a:spcPts val="0"/>
              </a:spcBef>
              <a:spcAft>
                <a:spcPts val="0"/>
              </a:spcAft>
            </a:pPr>
            <a:r>
              <a:rPr lang="uz-UZ" sz="900" dirty="0" b="0" i="1">
                <a:solidFill>
                  <a:srgbClr val="595959"/>
                </a:solidFill>
                <a:latin typeface="Calibri"/>
              </a:rPr>
              <a:t>Kundalik tayyorlanish</a:t>
            </a:r>
          </a:p>
        </p:txBody>
      </p:sp>
      <p:sp>
        <p:nvSpPr>
          <p:cNvPr id="18" name="sp18"/>
          <p:cNvSpPr>
            <a:spLocks noGrp="1"/>
          </p:cNvSpPr>
          <p:nvPr/>
        </p:nvSpPr>
        <p:spPr>
          <a:xfrm>
            <a:off x="4464000" y="2862000"/>
            <a:ext cx="288000" cy="90000"/>
          </a:xfrm>
          <a:prstGeom prst="rect">
            <a:avLst/>
          </a:prstGeom>
          <a:noFill/>
        </p:spPr>
        <p:txBody>
          <a:bodyPr anchor="t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900" dirty="0" b="0" i="0">
                <a:solidFill>
                  <a:srgbClr val="595959"/>
                </a:solidFill>
                <a:latin typeface="Calibri"/>
              </a:rPr>
              <a:t>▼</a:t>
            </a:r>
          </a:p>
        </p:txBody>
      </p:sp>
      <p:sp>
        <p:nvSpPr>
          <p:cNvPr id="19" name="sp19"/>
          <p:cNvSpPr>
            <a:spLocks noGrp="1"/>
          </p:cNvSpPr>
          <p:nvPr/>
        </p:nvSpPr>
        <p:spPr>
          <a:xfrm>
            <a:off x="4032000" y="2880000"/>
            <a:ext cx="1080000" cy="432000"/>
          </a:xfrm>
          <a:prstGeom prst="rect">
            <a:avLst/>
          </a:prstGeom>
          <a:solidFill>
            <a:srgbClr val="C55A11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000" dirty="0" b="1" i="0">
                <a:solidFill>
                  <a:srgbClr val="FFFFFF"/>
                </a:solidFill>
                <a:latin typeface="Calibri"/>
              </a:rPr>
              <a:t>IQC / QC NAMUNALARI</a:t>
            </a:r>
          </a:p>
        </p:txBody>
      </p:sp>
      <p:sp>
        <p:nvSpPr>
          <p:cNvPr id="20" name="sp20"/>
          <p:cNvSpPr>
            <a:spLocks noGrp="1"/>
          </p:cNvSpPr>
          <p:nvPr/>
        </p:nvSpPr>
        <p:spPr>
          <a:xfrm>
            <a:off x="5184000" y="2952000"/>
            <a:ext cx="1800000" cy="288000"/>
          </a:xfrm>
          <a:prstGeom prst="rect">
            <a:avLst/>
          </a:prstGeom>
          <a:noFill/>
        </p:spPr>
        <p:txBody>
          <a:bodyPr anchor="t" lIns="91440" tIns="45720" rIns="91440" bIns="45720" wrap="square"/>
          <a:lstStyle/>
          <a:p>
            <a:pPr algn="l" indent="0">
              <a:spcBef>
                <a:spcPts val="0"/>
              </a:spcBef>
              <a:spcAft>
                <a:spcPts val="0"/>
              </a:spcAft>
            </a:pPr>
            <a:r>
              <a:rPr lang="uz-UZ" sz="900" dirty="0" b="0" i="1">
                <a:solidFill>
                  <a:srgbClr val="595959"/>
                </a:solidFill>
                <a:latin typeface="Calibri"/>
              </a:rPr>
              <a:t>Westgard nazorati</a:t>
            </a:r>
          </a:p>
        </p:txBody>
      </p:sp>
      <p:sp>
        <p:nvSpPr>
          <p:cNvPr id="21" name="sp21"/>
          <p:cNvSpPr>
            <a:spLocks noGrp="1"/>
          </p:cNvSpPr>
          <p:nvPr/>
        </p:nvSpPr>
        <p:spPr>
          <a:xfrm>
            <a:off x="4464000" y="3312000"/>
            <a:ext cx="288000" cy="90000"/>
          </a:xfrm>
          <a:prstGeom prst="rect">
            <a:avLst/>
          </a:prstGeom>
          <a:noFill/>
        </p:spPr>
        <p:txBody>
          <a:bodyPr anchor="t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900" dirty="0" b="0" i="0">
                <a:solidFill>
                  <a:srgbClr val="595959"/>
                </a:solidFill>
                <a:latin typeface="Calibri"/>
              </a:rPr>
              <a:t>▼</a:t>
            </a:r>
          </a:p>
        </p:txBody>
      </p:sp>
      <p:sp>
        <p:nvSpPr>
          <p:cNvPr id="22" name="sp22"/>
          <p:cNvSpPr>
            <a:spLocks noGrp="1"/>
          </p:cNvSpPr>
          <p:nvPr/>
        </p:nvSpPr>
        <p:spPr>
          <a:xfrm>
            <a:off x="4212000" y="3330000"/>
            <a:ext cx="720000" cy="432000"/>
          </a:xfrm>
          <a:prstGeom prst="rect">
            <a:avLst/>
          </a:prstGeom>
          <a:solidFill>
            <a:srgbClr val="7030A0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000" dirty="0" b="1" i="0">
                <a:solidFill>
                  <a:srgbClr val="FFFFFF"/>
                </a:solidFill>
                <a:latin typeface="Calibri"/>
              </a:rPr>
              <a:t>LABORATORIYA NATIJASI</a:t>
            </a:r>
          </a:p>
        </p:txBody>
      </p:sp>
      <p:sp>
        <p:nvSpPr>
          <p:cNvPr id="23" name="sp23"/>
          <p:cNvSpPr>
            <a:spLocks noGrp="1"/>
          </p:cNvSpPr>
          <p:nvPr/>
        </p:nvSpPr>
        <p:spPr>
          <a:xfrm>
            <a:off x="5004000" y="3402000"/>
            <a:ext cx="1800000" cy="288000"/>
          </a:xfrm>
          <a:prstGeom prst="rect">
            <a:avLst/>
          </a:prstGeom>
          <a:noFill/>
        </p:spPr>
        <p:txBody>
          <a:bodyPr anchor="t" lIns="91440" tIns="45720" rIns="91440" bIns="45720" wrap="square"/>
          <a:lstStyle/>
          <a:p>
            <a:pPr algn="l" indent="0">
              <a:spcBef>
                <a:spcPts val="0"/>
              </a:spcBef>
              <a:spcAft>
                <a:spcPts val="0"/>
              </a:spcAft>
            </a:pPr>
            <a:r>
              <a:rPr lang="uz-UZ" sz="900" dirty="0" b="0" i="1">
                <a:solidFill>
                  <a:srgbClr val="595959"/>
                </a:solidFill>
                <a:latin typeface="Calibri"/>
              </a:rPr>
              <a:t>x ± U (k=2)</a:t>
            </a:r>
          </a:p>
        </p:txBody>
      </p:sp>
      <p:sp>
        <p:nvSpPr>
          <p:cNvPr id="24" name="sp24"/>
          <p:cNvSpPr>
            <a:spLocks noGrp="1"/>
          </p:cNvSpPr>
          <p:nvPr/>
        </p:nvSpPr>
        <p:spPr>
          <a:xfrm>
            <a:off x="6120000" y="1152000"/>
            <a:ext cx="2700000" cy="1800000"/>
          </a:xfrm>
          <a:prstGeom prst="rect">
            <a:avLst/>
          </a:prstGeom>
          <a:solidFill>
            <a:srgbClr val="D6E4F0"/>
          </a:solidFill>
          <a:ln>
            <a:solidFill>
              <a:srgbClr val="CCCCCC"/>
            </a:solidFill>
          </a:ln>
        </p:spPr>
        <p:txBody>
          <a:bodyPr anchor="t" lIns="108000" tIns="72000" rIns="108000" bIns="72000" wrap="square"/>
          <a:lstStyle/>
          <a:p>
            <a:pPr algn="l" indent="0">
              <a:spcBef>
                <a:spcPts val="300"/>
              </a:spcBef>
              <a:spcAft>
                <a:spcPts val="300"/>
              </a:spcAft>
            </a:pPr>
            <a:r>
              <a:rPr lang="uz-UZ" sz="900" dirty="0" b="1" i="0">
                <a:solidFill>
                  <a:srgbClr val="2E75B6"/>
                </a:solidFill>
                <a:latin typeface="Calibri"/>
              </a:rPr>
              <a:t>• </a:t>
            </a:r>
            <a:r>
              <a:rPr lang="uz-UZ" sz="900" dirty="0" b="0" i="0">
                <a:solidFill>
                  <a:srgbClr val="000000"/>
                </a:solidFill>
                <a:latin typeface="Calibri"/>
              </a:rPr>
              <a:t>Matrix-matched CRM afzal (LC, GC, ICP)</a:t>
            </a:r>
          </a:p>
          <a:p>
            <a:pPr algn="l" indent="0">
              <a:spcBef>
                <a:spcPts val="300"/>
              </a:spcBef>
              <a:spcAft>
                <a:spcPts val="300"/>
              </a:spcAft>
            </a:pPr>
            <a:r>
              <a:rPr lang="uz-UZ" sz="900" dirty="0" b="1" i="0">
                <a:solidFill>
                  <a:srgbClr val="2E75B6"/>
                </a:solidFill>
                <a:latin typeface="Calibri"/>
              </a:rPr>
              <a:t>• </a:t>
            </a:r>
            <a:r>
              <a:rPr lang="uz-UZ" sz="900" dirty="0" b="0" i="0">
                <a:solidFill>
                  <a:srgbClr val="000000"/>
                </a:solidFill>
                <a:latin typeface="Calibri"/>
              </a:rPr>
              <a:t>Sertifikat: U va k ko'rsatilgan bo'lishi kerak</a:t>
            </a:r>
          </a:p>
          <a:p>
            <a:pPr algn="l" indent="0">
              <a:spcBef>
                <a:spcPts val="300"/>
              </a:spcBef>
              <a:spcAft>
                <a:spcPts val="300"/>
              </a:spcAft>
            </a:pPr>
            <a:r>
              <a:rPr lang="uz-UZ" sz="900" dirty="0" b="1" i="0">
                <a:solidFill>
                  <a:srgbClr val="2E75B6"/>
                </a:solidFill>
                <a:latin typeface="Calibri"/>
              </a:rPr>
              <a:t>• </a:t>
            </a:r>
            <a:r>
              <a:rPr lang="uz-UZ" sz="900" dirty="0" b="0" i="0">
                <a:solidFill>
                  <a:srgbClr val="000000"/>
                </a:solidFill>
                <a:latin typeface="Calibri"/>
              </a:rPr>
              <a:t>NMI kuzatilishi: NIST/LGC/BAM/IRMM</a:t>
            </a:r>
          </a:p>
          <a:p>
            <a:pPr algn="l" indent="0">
              <a:spcBef>
                <a:spcPts val="300"/>
              </a:spcBef>
              <a:spcAft>
                <a:spcPts val="300"/>
              </a:spcAft>
            </a:pPr>
            <a:r>
              <a:rPr lang="uz-UZ" sz="900" dirty="0" b="1" i="0">
                <a:solidFill>
                  <a:srgbClr val="2E75B6"/>
                </a:solidFill>
                <a:latin typeface="Calibri"/>
              </a:rPr>
              <a:t>• </a:t>
            </a:r>
            <a:r>
              <a:rPr lang="uz-UZ" sz="900" dirty="0" b="0" i="0">
                <a:solidFill>
                  <a:srgbClr val="000000"/>
                </a:solidFill>
                <a:latin typeface="Calibri"/>
              </a:rPr>
              <a:t>Amal qilish muddati tekshirilsin</a:t>
            </a:r>
          </a:p>
          <a:p>
            <a:pPr algn="l" indent="0">
              <a:spcBef>
                <a:spcPts val="300"/>
              </a:spcBef>
              <a:spcAft>
                <a:spcPts val="300"/>
              </a:spcAft>
            </a:pPr>
            <a:r>
              <a:rPr lang="uz-UZ" sz="900" dirty="0" b="1" i="0">
                <a:solidFill>
                  <a:srgbClr val="2E75B6"/>
                </a:solidFill>
                <a:latin typeface="Calibri"/>
              </a:rPr>
              <a:t>• </a:t>
            </a:r>
            <a:r>
              <a:rPr lang="uz-UZ" sz="900" dirty="0" b="0" i="0">
                <a:solidFill>
                  <a:srgbClr val="000000"/>
                </a:solidFill>
                <a:latin typeface="Calibri"/>
              </a:rPr>
              <a:t>Saqlash: sertifikat haroratida</a:t>
            </a:r>
          </a:p>
          <a:p>
            <a:pPr algn="l" indent="0">
              <a:spcBef>
                <a:spcPts val="300"/>
              </a:spcBef>
              <a:spcAft>
                <a:spcPts val="300"/>
              </a:spcAft>
            </a:pPr>
            <a:r>
              <a:rPr lang="uz-UZ" sz="900" dirty="0" b="1" i="0">
                <a:solidFill>
                  <a:srgbClr val="2E75B6"/>
                </a:solidFill>
                <a:latin typeface="Calibri"/>
              </a:rPr>
              <a:t>• </a:t>
            </a:r>
            <a:r>
              <a:rPr lang="uz-UZ" sz="900" dirty="0" b="0" i="0">
                <a:solidFill>
                  <a:srgbClr val="000000"/>
                </a:solidFill>
                <a:latin typeface="Calibri"/>
              </a:rPr>
              <a:t>Qayta kalibrlash: ma'lumotga asosida
(R-chart, Nelson qoidasi)</a:t>
            </a:r>
          </a:p>
        </p:txBody>
      </p:sp>
      <p:sp>
        <p:nvSpPr>
          <p:cNvPr id="25" name="sp25"/>
          <p:cNvSpPr>
            <a:spLocks noGrp="1"/>
          </p:cNvSpPr>
          <p:nvPr/>
        </p:nvSpPr>
        <p:spPr>
          <a:xfrm>
            <a:off x="6120000" y="1080000"/>
            <a:ext cx="2700000" cy="180000"/>
          </a:xfrm>
          <a:prstGeom prst="rect">
            <a:avLst/>
          </a:prstGeom>
          <a:noFill/>
        </p:spPr>
        <p:txBody>
          <a:bodyPr anchor="t" lIns="91440" tIns="45720" rIns="91440" bIns="45720" wrap="square"/>
          <a:lstStyle/>
          <a:p>
            <a:pPr algn="l" indent="0">
              <a:spcBef>
                <a:spcPts val="0"/>
              </a:spcBef>
              <a:spcAft>
                <a:spcPts val="0"/>
              </a:spcAft>
            </a:pPr>
            <a:r>
              <a:rPr lang="uz-UZ" sz="1100" dirty="0" b="1" i="0">
                <a:solidFill>
                  <a:srgbClr val="1F3864"/>
                </a:solidFill>
                <a:latin typeface="Calibri"/>
              </a:rPr>
              <a:t>CRM TANLASH MEZONLARI</a:t>
            </a: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1" name="sp1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BFF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400" dirty="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" name="sp2"/>
          <p:cNvSpPr>
            <a:spLocks noGrp="1"/>
          </p:cNvSpPr>
          <p:nvPr/>
        </p:nvSpPr>
        <p:spPr>
          <a:xfrm>
            <a:off x="0" y="0"/>
            <a:ext cx="9144000" cy="864000"/>
          </a:xfrm>
          <a:prstGeom prst="rect">
            <a:avLst/>
          </a:prstGeom>
          <a:solidFill>
            <a:srgbClr val="1F3864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400" dirty="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" name="sp3"/>
          <p:cNvSpPr>
            <a:spLocks noGrp="1"/>
          </p:cNvSpPr>
          <p:nvPr/>
        </p:nvSpPr>
        <p:spPr>
          <a:xfrm>
            <a:off x="108000" y="90000"/>
            <a:ext cx="432000" cy="360000"/>
          </a:xfrm>
          <a:prstGeom prst="rect">
            <a:avLst/>
          </a:prstGeom>
          <a:solidFill>
            <a:srgbClr val="00B0F0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2200" dirty="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4" name="sp4"/>
          <p:cNvSpPr>
            <a:spLocks noGrp="1"/>
          </p:cNvSpPr>
          <p:nvPr/>
        </p:nvSpPr>
        <p:spPr>
          <a:xfrm>
            <a:off x="648000" y="72000"/>
            <a:ext cx="8316000" cy="432000"/>
          </a:xfrm>
          <a:prstGeom prst="rect">
            <a:avLst/>
          </a:prstGeom>
          <a:noFill/>
        </p:spPr>
        <p:txBody>
          <a:bodyPr anchor="ctr" lIns="91440" tIns="45720" rIns="91440" bIns="45720" wrap="square"/>
          <a:lstStyle/>
          <a:p>
            <a:pPr algn="l" indent="0">
              <a:spcBef>
                <a:spcPts val="0"/>
              </a:spcBef>
              <a:spcAft>
                <a:spcPts val="0"/>
              </a:spcAft>
            </a:pPr>
            <a:r>
              <a:rPr lang="uz-UZ" sz="2200" dirty="0" b="1" i="0">
                <a:solidFill>
                  <a:srgbClr val="FFFFFF"/>
                </a:solidFill>
                <a:latin typeface="Calibri"/>
              </a:rPr>
              <a:t>KALIBRASIYA EGRI CHIZIG'I VA LOD/LOQ</a:t>
            </a:r>
          </a:p>
        </p:txBody>
      </p:sp>
      <p:sp>
        <p:nvSpPr>
          <p:cNvPr id="5" name="sp5"/>
          <p:cNvSpPr>
            <a:spLocks noGrp="1"/>
          </p:cNvSpPr>
          <p:nvPr/>
        </p:nvSpPr>
        <p:spPr>
          <a:xfrm>
            <a:off x="0" y="864000"/>
            <a:ext cx="9144000" cy="251999"/>
          </a:xfrm>
          <a:prstGeom prst="rect">
            <a:avLst/>
          </a:prstGeom>
          <a:solidFill>
            <a:srgbClr val="2E75B6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000" dirty="0" b="0" i="0">
                <a:solidFill>
                  <a:srgbClr val="FFFFFF"/>
                </a:solidFill>
                <a:latin typeface="Calibri"/>
              </a:rPr>
              <a:t>ISO/IEC 17025 Cl.7.3 | FDA BMV 2018 | SANTE/11813 | ISO 11843</a:t>
            </a:r>
          </a:p>
        </p:txBody>
      </p:sp>
      <p:sp>
        <p:nvSpPr>
          <p:cNvPr id="6" name="sp6"/>
          <p:cNvSpPr>
            <a:spLocks noGrp="1"/>
          </p:cNvSpPr>
          <p:nvPr/>
        </p:nvSpPr>
        <p:spPr>
          <a:xfrm>
            <a:off x="0" y="4927500"/>
            <a:ext cx="9144000" cy="216000"/>
          </a:xfrm>
          <a:prstGeom prst="rect">
            <a:avLst/>
          </a:prstGeom>
          <a:solidFill>
            <a:srgbClr val="1F3864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800" dirty="0" b="0" i="0">
                <a:solidFill>
                  <a:srgbClr val="FFFFFF"/>
                </a:solidFill>
                <a:latin typeface="Calibri"/>
              </a:rPr>
              <a:t>LOD = 3.3×Sy/b  |  LOQ = 10×Sy/b  |  R²≥0.999 (LC-MS/MS)  |  Back-calc. dev.≤15% at LOQ, ≤10% iboshqa nuqtalarda</a:t>
            </a:r>
          </a:p>
        </p:txBody>
      </p:sp>
      <p:sp>
        <p:nvSpPr>
          <p:cNvPr id="7" name="sp7"/>
          <p:cNvSpPr>
            <a:spLocks noGrp="1"/>
          </p:cNvSpPr>
          <p:nvPr/>
        </p:nvSpPr>
        <p:spPr>
          <a:xfrm>
            <a:off x="108000" y="1152000"/>
            <a:ext cx="4140000" cy="234000"/>
          </a:xfrm>
          <a:prstGeom prst="rect">
            <a:avLst/>
          </a:prstGeom>
          <a:solidFill>
            <a:srgbClr val="2E75B6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200" dirty="0" b="1" i="0">
                <a:solidFill>
                  <a:srgbClr val="FFFFFF"/>
                </a:solidFill>
                <a:latin typeface="Calibri"/>
              </a:rPr>
              <a:t>KALIBRASIYA MODELI TANLASH</a:t>
            </a:r>
          </a:p>
        </p:txBody>
      </p:sp>
      <p:graphicFrame>
        <p:nvGraphicFramePr>
          <p:cNvPr id="8" name="tbl8"/>
          <p:cNvGraphicFramePr>
            <a:graphicFrameLocks noGrp="1"/>
          </p:cNvGraphicFramePr>
          <p:nvPr/>
        </p:nvGraphicFramePr>
        <p:xfrm>
          <a:off x="108000" y="1386000"/>
          <a:ext cx="414000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/>
                <a:gridCol w="1007999"/>
                <a:gridCol w="1007999"/>
                <a:gridCol w="1080000"/>
              </a:tblGrid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1" i="0">
                          <a:solidFill>
                            <a:srgbClr val="FFFFFF"/>
                          </a:solidFill>
                          <a:latin typeface="Calibri"/>
                        </a:rPr>
                        <a:t>Mezon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1" i="0">
                          <a:solidFill>
                            <a:srgbClr val="FFFFFF"/>
                          </a:solidFill>
                          <a:latin typeface="Calibri"/>
                        </a:rPr>
                        <a:t>Linear (1/x²)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1" i="0">
                          <a:solidFill>
                            <a:srgbClr val="FFFFFF"/>
                          </a:solidFill>
                          <a:latin typeface="Calibri"/>
                        </a:rPr>
                        <a:t>Non-linear 4PL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1" i="0">
                          <a:solidFill>
                            <a:srgbClr val="FFFFFF"/>
                          </a:solidFill>
                          <a:latin typeface="Calibri"/>
                        </a:rPr>
                        <a:t>Weighted Lin.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Qachon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LC-MS/MS
GC-MS (tor diapazon)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Immunoassay
ELISA, CLIA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Geteroscedastic
keng diapazon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E4F0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R² talabi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≥ 0.999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≥ 0.995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≥ 0.999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Residual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≤±10% (≤15% LOQ)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≤±20% (~LOQ)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≤±15%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E4F0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Og'irlik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1/x² (asosiy)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1/y² tavsiya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1/x yoki 1/x²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Tekshirish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Back-calc farq%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4PL parametrlar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SSRR minimum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  <p:sp>
        <p:nvSpPr>
          <p:cNvPr id="9" name="sp9"/>
          <p:cNvSpPr>
            <a:spLocks noGrp="1"/>
          </p:cNvSpPr>
          <p:nvPr/>
        </p:nvSpPr>
        <p:spPr>
          <a:xfrm>
            <a:off x="4392000" y="1152000"/>
            <a:ext cx="4464000" cy="234000"/>
          </a:xfrm>
          <a:prstGeom prst="rect">
            <a:avLst/>
          </a:prstGeom>
          <a:solidFill>
            <a:srgbClr val="C00000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200" dirty="0" b="1" i="0">
                <a:solidFill>
                  <a:srgbClr val="FFFFFF"/>
                </a:solidFill>
                <a:latin typeface="Calibri"/>
              </a:rPr>
              <a:t>LOD / LOQ HISOBLASH METODLARI</a:t>
            </a:r>
          </a:p>
        </p:txBody>
      </p:sp>
      <p:graphicFrame>
        <p:nvGraphicFramePr>
          <p:cNvPr id="10" name="tbl10"/>
          <p:cNvGraphicFramePr>
            <a:graphicFrameLocks noGrp="1"/>
          </p:cNvGraphicFramePr>
          <p:nvPr/>
        </p:nvGraphicFramePr>
        <p:xfrm>
          <a:off x="4392000" y="1386000"/>
          <a:ext cx="4464000" cy="139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1512000"/>
                <a:gridCol w="1692000"/>
              </a:tblGrid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1" i="0">
                          <a:solidFill>
                            <a:srgbClr val="FFFFFF"/>
                          </a:solidFill>
                          <a:latin typeface="Calibri"/>
                        </a:rPr>
                        <a:t>Metod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1" i="0">
                          <a:solidFill>
                            <a:srgbClr val="FFFFFF"/>
                          </a:solidFill>
                          <a:latin typeface="Calibri"/>
                        </a:rPr>
                        <a:t>Formula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1" i="0">
                          <a:solidFill>
                            <a:srgbClr val="FFFFFF"/>
                          </a:solidFill>
                          <a:latin typeface="Calibri"/>
                        </a:rPr>
                        <a:t>Qachon qo'llanadi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Kalibrasiya
egri chizig'i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LOD=3.3×Sy/b
LOQ=10×Sy/b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LC-MS/MS, GC-MS
(asosiy metod)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0E8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Signal/Shovqin
(S/N)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LOD: S/N=3
LOQ: S/N=10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Xromatografiya
(amaliy)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Blank spike
(ISO 11843)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LOD=x̄blank
+3×s_blank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Biologik matritsa
(eng qat'iy)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0E8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Aniqlik profili
(CV%)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LOQ: CV≤20%
+Recovery 80-120%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Validatsiya uchun
(tasdiqlovchi)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p11"/>
          <p:cNvSpPr>
            <a:spLocks noGrp="1"/>
          </p:cNvSpPr>
          <p:nvPr/>
        </p:nvSpPr>
        <p:spPr>
          <a:xfrm>
            <a:off x="108000" y="2862000"/>
            <a:ext cx="8928000" cy="234000"/>
          </a:xfrm>
          <a:prstGeom prst="rect">
            <a:avLst/>
          </a:prstGeom>
          <a:solidFill>
            <a:srgbClr val="1F3864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100" dirty="0" b="1" i="0">
                <a:solidFill>
                  <a:srgbClr val="FFFFFF"/>
                </a:solidFill>
                <a:latin typeface="Calibri"/>
              </a:rPr>
              <a:t>Kalibrasiya qabul mezonlari:  R²≥0.999 (MS)  |  ≥2/3 kalibr nuqtalari ±10% ichida  |  LOQ ≤ 50%×MRL  |  IS CV &lt; 15%</a:t>
            </a: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1" name="sp1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BFF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400" dirty="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" name="sp2"/>
          <p:cNvSpPr>
            <a:spLocks noGrp="1"/>
          </p:cNvSpPr>
          <p:nvPr/>
        </p:nvSpPr>
        <p:spPr>
          <a:xfrm>
            <a:off x="0" y="0"/>
            <a:ext cx="9144000" cy="864000"/>
          </a:xfrm>
          <a:prstGeom prst="rect">
            <a:avLst/>
          </a:prstGeom>
          <a:solidFill>
            <a:srgbClr val="1F3864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400" dirty="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" name="sp3"/>
          <p:cNvSpPr>
            <a:spLocks noGrp="1"/>
          </p:cNvSpPr>
          <p:nvPr/>
        </p:nvSpPr>
        <p:spPr>
          <a:xfrm>
            <a:off x="108000" y="90000"/>
            <a:ext cx="432000" cy="360000"/>
          </a:xfrm>
          <a:prstGeom prst="rect">
            <a:avLst/>
          </a:prstGeom>
          <a:solidFill>
            <a:srgbClr val="00B0F0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2200" dirty="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" name="sp4"/>
          <p:cNvSpPr>
            <a:spLocks noGrp="1"/>
          </p:cNvSpPr>
          <p:nvPr/>
        </p:nvSpPr>
        <p:spPr>
          <a:xfrm>
            <a:off x="648000" y="72000"/>
            <a:ext cx="8316000" cy="432000"/>
          </a:xfrm>
          <a:prstGeom prst="rect">
            <a:avLst/>
          </a:prstGeom>
          <a:noFill/>
        </p:spPr>
        <p:txBody>
          <a:bodyPr anchor="ctr" lIns="91440" tIns="45720" rIns="91440" bIns="45720" wrap="square"/>
          <a:lstStyle/>
          <a:p>
            <a:pPr algn="l" indent="0">
              <a:spcBef>
                <a:spcPts val="0"/>
              </a:spcBef>
              <a:spcAft>
                <a:spcPts val="0"/>
              </a:spcAft>
            </a:pPr>
            <a:r>
              <a:rPr lang="uz-UZ" sz="2200" dirty="0" b="1" i="0">
                <a:solidFill>
                  <a:srgbClr val="FFFFFF"/>
                </a:solidFill>
                <a:latin typeface="Calibri"/>
              </a:rPr>
              <a:t>TO'LIQ METROLOGIK SIFAT TIZIMI — INTEGRATSIYA</a:t>
            </a:r>
          </a:p>
        </p:txBody>
      </p:sp>
      <p:sp>
        <p:nvSpPr>
          <p:cNvPr id="5" name="sp5"/>
          <p:cNvSpPr>
            <a:spLocks noGrp="1"/>
          </p:cNvSpPr>
          <p:nvPr/>
        </p:nvSpPr>
        <p:spPr>
          <a:xfrm>
            <a:off x="0" y="864000"/>
            <a:ext cx="9144000" cy="251999"/>
          </a:xfrm>
          <a:prstGeom prst="rect">
            <a:avLst/>
          </a:prstGeom>
          <a:solidFill>
            <a:srgbClr val="2E75B6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1000" dirty="0" b="0" i="0">
                <a:solidFill>
                  <a:srgbClr val="FFFFFF"/>
                </a:solidFill>
                <a:latin typeface="Calibri"/>
              </a:rPr>
              <a:t>ISO/IEC 17025:2017 | ILAC-G8 | GUM | SANTE — Kundalik amaliyot jadvali</a:t>
            </a:r>
          </a:p>
        </p:txBody>
      </p:sp>
      <p:sp>
        <p:nvSpPr>
          <p:cNvPr id="6" name="sp6"/>
          <p:cNvSpPr>
            <a:spLocks noGrp="1"/>
          </p:cNvSpPr>
          <p:nvPr/>
        </p:nvSpPr>
        <p:spPr>
          <a:xfrm>
            <a:off x="0" y="4927500"/>
            <a:ext cx="9144000" cy="216000"/>
          </a:xfrm>
          <a:prstGeom prst="rect">
            <a:avLst/>
          </a:prstGeom>
          <a:solidFill>
            <a:srgbClr val="1F3864"/>
          </a:solidFill>
        </p:spPr>
        <p:txBody>
          <a:bodyPr anchor="ctr" lIns="91440" tIns="45720" rIns="91440" bIns="45720" wrap="square"/>
          <a:lstStyle/>
          <a:p>
            <a:pPr algn="ctr" indent="0">
              <a:spcBef>
                <a:spcPts val="0"/>
              </a:spcBef>
              <a:spcAft>
                <a:spcPts val="0"/>
              </a:spcAft>
            </a:pPr>
            <a:r>
              <a:rPr lang="uz-UZ" sz="800" dirty="0" b="0" i="0">
                <a:solidFill>
                  <a:srgbClr val="FFFFFF"/>
                </a:solidFill>
                <a:latin typeface="Calibri"/>
              </a:rPr>
              <a:t>Muvaffaqiyatli akkreditatsiya = Kuzatilish + Noaniqlik + Qaror qoidasi + IQC + Hujjatlashtirish — barchasi bir vaqtda</a:t>
            </a:r>
          </a:p>
        </p:txBody>
      </p:sp>
      <p:graphicFrame>
        <p:nvGraphicFramePr>
          <p:cNvPr id="7" name="tbl7"/>
          <p:cNvGraphicFramePr>
            <a:graphicFrameLocks noGrp="1"/>
          </p:cNvGraphicFramePr>
          <p:nvPr/>
        </p:nvGraphicFramePr>
        <p:xfrm>
          <a:off x="108000" y="1134000"/>
          <a:ext cx="8928000" cy="195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1980000"/>
                <a:gridCol w="1440000"/>
                <a:gridCol w="1980000"/>
                <a:gridCol w="2160000"/>
              </a:tblGrid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1" i="0">
                          <a:solidFill>
                            <a:srgbClr val="FFFFFF"/>
                          </a:solidFill>
                          <a:latin typeface="Calibri"/>
                        </a:rPr>
                        <a:t>Bosqich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1" i="0">
                          <a:solidFill>
                            <a:srgbClr val="FFFFFF"/>
                          </a:solidFill>
                          <a:latin typeface="Calibri"/>
                        </a:rPr>
                        <a:t>Amal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1" i="0">
                          <a:solidFill>
                            <a:srgbClr val="FFFFFF"/>
                          </a:solidFill>
                          <a:latin typeface="Calibri"/>
                        </a:rPr>
                        <a:t>Standart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1" i="0">
                          <a:solidFill>
                            <a:srgbClr val="FFFFFF"/>
                          </a:solidFill>
                          <a:latin typeface="Calibri"/>
                        </a:rPr>
                        <a:t>KPI / Qabul mezoni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1" i="0">
                          <a:solidFill>
                            <a:srgbClr val="FFFFFF"/>
                          </a:solidFill>
                          <a:latin typeface="Calibri"/>
                        </a:rPr>
                        <a:t>Hujjat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1. Kalibrasiya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Egri chiziq qurish
LOD/LOQ aniqlash
Residual tahlil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ISO 17025
FDA BMV 2018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R²≥0.999
CV≤15% (IS)
Back-calc ≤10%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Kalibrasiya jurnali
Egri chiziq fayli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E4F0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2. IQC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Kunlik QC o'lchash
Levey-Jennings
Westgard 6 qoida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ISO 17025 Cl.7.7
ILAC-G24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CV≤10% (LC-MS)
CV≤15% (ELISA)
Westgard alert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IQC jadvali
Westgard chart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3. Noaniqlik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Top-down IQC dan
hisoblash, Budget
u_c va U (k=2)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GUM JCGM 100
EURACHEM CG4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U≤50%×MRL
TUR≥4
Yillik qayta baholash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MU budget fayli
Hisobot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E4F0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4. Kuzatilish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CRM tekshirish
PT ishtirok
Zanjir hujjatlashtirish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ISO 17025 Cl.6.6
ILAC-P10
ISO 13528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z-score |z|≤2
En≤1.0
CRM: ±2U ichida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CRM sertifikati
PT hisoboti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5. Qaror qabul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Guard Band w=U
ILAC-G8 qoidasi
TUR hisoblash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ILAC-G8:2019
ISO 17025 Cl.7.8.6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TUR≥4
Noaniqlik zonasi
hisobotda ko'rsatilsin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Qaror qoidasi
hujjati (SOP)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E4F0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6. Hujjatlashtirish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Barcha qadam
SOP ga yozish
Audit trail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ISO 17025 Cl.7.5
ILAC-P9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0 ta kuzatilish
bog'liq kamchilik
(akkreditatsiya audit)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UZ" sz="1000" dirty="0" b="0" i="0">
                          <a:solidFill>
                            <a:srgbClr val="000000"/>
                          </a:solidFill>
                          <a:latin typeface="Calibri"/>
                        </a:rPr>
                        <a:t>LIMS / Lab. daftar
SOP to'plami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</p:sld>
</file>