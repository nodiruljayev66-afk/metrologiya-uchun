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M1"/>
  </p:sldMasterIdLst>
  <p:sldSz cx="9144000" cy="5143500" type="custom"/>
  <p:notesSz cx="6858000" cy="9144000"/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M1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 standalone="yes"?>
<p:sldMaster xmlns:a="http://schemas.openxmlformats.org/drawingml/2006/main"
  xmlns:r="http://schemas.openxmlformats.org/officeDocument/2006/relationships"
  xmlns:p="http://schemas.openxmlformats.org/presentationml/2006/main">
  <p:cSld><p:bg><p:bgRef idx="1001">
    <a:schemeClr val="bg1"/>
  </p:bgRef></p:bg>
  <p:spTree>
    <p:nvGrpSpPr>
      <p:cNvPr id="1" name=""/>
      <p:cNvGrpSpPr/>
      <p:nvPr/>
    </p:nvGrpSpPr>
    <p:grpSpPr>
      <a:xfrm><a:off x="0" y="0"/>
      <a:ext cx="0" cy="0"/>
      <a:chOff x="0" y="0"/>
      <a:chExt cx="0" cy="0"/></a:xfrm>
    </p:grpSpPr>
  </p:spTree>
  </p:cSld>
  <p:clrMap bg1="lt1" tx1="dk1" bg2="lt2" tx2="dk2"
    accent1="accent1" accent2="accent2" accent3="accent3"
    accent4="accent4" accent5="accent5" accent6="accent6"
    hlink="hlink" folHlink="folHlink"/>
  <p:sldLayoutIdLst>
    <p:sldLayoutId id="2147483649" r:id="rId1"/>
  </p:sldLayoutIdLst>
  <p:txStyles>
    <p:titleStyle>
      <a:lvl1pPr><a:defRPr lang="uz-UZ" sz=2800 b="1">
        <a:solidFill><a:srgbClr val="FFFFFF"/></a:solidFill>
        <a:latin typeface="Calibri"/>
      </a:defRPr></a:lvl1pPr>
    </p:titleStyle>
    <p:bodyStyle>
      <a:lvl1pPr><a:defRPr lang="uz-UZ" sz=1800>
        <a:solidFill><a:srgbClr val="000000"/></a:solidFill>
        <a:latin typeface="Calibri"/>
      </a:defRPr></a:lvl1pPr>
    </p:bodyStyle>
    <p:otherStyle>
      <a:defPPr><a:defRPr lang="uz-UZ">
        <a:latin typeface="Calibri"/>
      </a:defRPr></a:defPPr>
    </p:otherStyle>
  </p:txStyles>
</p:sldMaster>
</file>

<file path=ppt/slides/_rels/slide1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L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18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0" y="4963500"/>
            <a:ext cx="9144000" cy="18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288000" y="432000"/>
            <a:ext cx="8568000" cy="720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800" dirty="0" b="1" i="0">
                <a:solidFill>
                  <a:srgbClr val="FFFFFF"/>
                </a:solidFill>
                <a:latin typeface="Calibri"/>
              </a:rPr>
              <a:t>O'LCHOV NOANIQLIGINI HISOBLASH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800" dirty="0" b="1" i="0">
                <a:solidFill>
                  <a:srgbClr val="FFFFFF"/>
                </a:solidFill>
                <a:latin typeface="Calibri"/>
              </a:rPr>
              <a:t>VA QAROR QABUL QILISH QOIDALARI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0000" y="1224000"/>
            <a:ext cx="8424000" cy="288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500" dirty="0" b="0" i="0">
                <a:solidFill>
                  <a:srgbClr val="00B0F0"/>
                </a:solidFill>
                <a:latin typeface="Calibri"/>
              </a:rPr>
              <a:t>Mahsulotlarda Toksik Moddalar Aniqlanishi va Umumiy Metrologik Amaliyot</a:t>
            </a:r>
          </a:p>
        </p:txBody>
      </p:sp>
      <p:sp>
        <p:nvSpPr>
          <p:cNvPr id="6" name="line7"/>
          <p:cNvSpPr>
            <a:spLocks noGrp="1"/>
          </p:cNvSpPr>
          <p:nvPr/>
        </p:nvSpPr>
        <p:spPr>
          <a:xfrm>
            <a:off x="180000" y="1584000"/>
            <a:ext cx="8784000" cy="25400"/>
          </a:xfrm>
          <a:prstGeom prst="rect">
            <a:avLst/>
          </a:prstGeom>
          <a:solidFill>
            <a:srgbClr val="00B0F0"/>
          </a:solidFill>
        </p:spPr>
        <p:txBody>
          <a:bodyPr/>
          <a:lstStyle/>
          <a:p/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180000" y="1655999"/>
            <a:ext cx="8784000" cy="234000"/>
          </a:xfrm>
          <a:prstGeom prst="rect">
            <a:avLst/>
          </a:prstGeom>
          <a:solidFill>
            <a:srgbClr val="17375E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FFFFFF"/>
                </a:solidFill>
                <a:latin typeface="Calibri"/>
              </a:rPr>
              <a:t>ISO/IEC 17025:2017  |  GUM JCGM 100:2008  |  ILAC-G8:2019  |  SANTE/11813  |  EA-4/02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288000" y="1944000"/>
            <a:ext cx="8568000" cy="18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8DB4E2"/>
                </a:solidFill>
                <a:latin typeface="Calibri"/>
              </a:rPr>
              <a:t>Laboratoriya Sifat Menejeri  •  Metrologik Nazorat Tizimi  •  2025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BFF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NOANIQLIK — ASOSIY TUSHUNCHALAR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GUM JCGM 100:2008 | ISO/IEC 17025:2017 Cl.7.6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GUM (2008): 'Measurement uncertainty — parameter characterizing the dispersion of values reasonably attributed to the measurand'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44000" y="1134000"/>
            <a:ext cx="5220000" cy="5760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1F3864"/>
                </a:solidFill>
                <a:latin typeface="Calibri"/>
              </a:rPr>
              <a:t>Ta'rif (GUM §2.2.3):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1F3864"/>
                </a:solidFill>
                <a:latin typeface="Calibri"/>
              </a:rPr>
              <a:t>«O'lchov noaniqlik — o'lchanayotgan kattalikka asosli ravishda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1F3864"/>
                </a:solidFill>
                <a:latin typeface="Calibri"/>
              </a:rPr>
              <a:t>nisblash mumkin bo'lgan qiymatlar tarqalishini tavsifluvchi parametr»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144000" y="1134000"/>
            <a:ext cx="2808000" cy="1044000"/>
          </a:xfrm>
          <a:prstGeom prst="rect">
            <a:avLst/>
          </a:prstGeom>
          <a:solidFill>
            <a:srgbClr val="2E75B6"/>
          </a:solidFill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300" dirty="0" b="1" i="0">
                <a:solidFill>
                  <a:srgbClr val="FFFFFF"/>
                </a:solidFill>
                <a:latin typeface="Calibri"/>
              </a:rPr>
              <a:t>XATO ≠ NOANIQLIK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216000" y="1422000"/>
            <a:ext cx="2664000" cy="72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FFFFFF"/>
                </a:solidFill>
                <a:latin typeface="Calibri"/>
              </a:rPr>
              <a:t>Xato — aniq ma'lum farq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FFFFFF"/>
                </a:solidFill>
                <a:latin typeface="Calibri"/>
              </a:rPr>
              <a:t>Noaniqlik — mumkin bo'lgan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FFFFFF"/>
                </a:solidFill>
                <a:latin typeface="Calibri"/>
              </a:rPr>
              <a:t>farqlar oralig'i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3096000" y="1134000"/>
            <a:ext cx="2808000" cy="1044000"/>
          </a:xfrm>
          <a:prstGeom prst="rect">
            <a:avLst/>
          </a:prstGeom>
          <a:solidFill>
            <a:srgbClr val="375623"/>
          </a:solidFill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300" dirty="0" b="1" i="0">
                <a:solidFill>
                  <a:srgbClr val="FFFFFF"/>
                </a:solidFill>
                <a:latin typeface="Calibri"/>
              </a:rPr>
              <a:t>NIMA UCHUN KERAK?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3168000" y="1422000"/>
            <a:ext cx="2664000" cy="72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FFFFFF"/>
                </a:solidFill>
                <a:latin typeface="Calibri"/>
              </a:rPr>
              <a:t>• Natija to'g'riligini isbotlash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FFFFFF"/>
                </a:solidFill>
                <a:latin typeface="Calibri"/>
              </a:rPr>
              <a:t>• Qarorni asoslash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0" i="0">
                <a:solidFill>
                  <a:srgbClr val="FFFFFF"/>
                </a:solidFill>
                <a:latin typeface="Calibri"/>
              </a:rPr>
              <a:t>• ISO 17025 talabi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144000" y="2268000"/>
            <a:ext cx="8856000" cy="48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500" dirty="0" b="1" i="0">
                <a:solidFill>
                  <a:srgbClr val="FFFFFF"/>
                </a:solidFill>
                <a:latin typeface="Calibri"/>
              </a:rPr>
              <a:t>U = k × u_c    →    Natija = x̄ ± U [birlik]   (k=2, ~95% ishonch oralig'i)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096000" y="1134000"/>
            <a:ext cx="2808000" cy="1044000"/>
          </a:xfrm>
          <a:prstGeom prst="rect">
            <a:avLst/>
          </a:prstGeom>
          <a:solidFill>
            <a:srgbClr val="2E75B6"/>
          </a:solidFill>
          <a:ln>
            <a:solidFill>
              <a:srgbClr val="CCCCCC"/>
            </a:solidFill>
          </a:ln>
        </p:spPr>
        <p:txBody>
          <a:bodyPr anchor="t" lIns="108000" tIns="72000" rIns="108000" bIns="72000" wrap="square"/>
          <a:lstStyle/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FFD96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U hisoblash majburiy (ISO 17025)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FFD96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Hisobotda: x̄ ± U (k=2) ko'rinishida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FFD96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U &gt; 1/3×tolerans → metod yaroqsiz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FFD96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Kuzatilish zanjiri talab qilinadi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BFF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NOANIQLIK MANBALARI — BALIQ SUYAGI DIAGRAMMASI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EURACHEM/CITAC CG4 | Bottom-up yondashuv | ISO/IEC 17025 Cl.7.6.2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Har bir manba u(xi) sifatida miqdorlanadi va kvadrat yig'indisi orqali uc ga qo'shiladi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260000" y="2088000"/>
            <a:ext cx="6552000" cy="198000"/>
          </a:xfrm>
          <a:prstGeom prst="rect">
            <a:avLst/>
          </a:prstGeom>
          <a:solidFill>
            <a:srgbClr val="C0000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200" dirty="0" b="1" i="0">
                <a:solidFill>
                  <a:srgbClr val="FFFFFF"/>
                </a:solidFill>
                <a:latin typeface="Calibri"/>
              </a:rPr>
              <a:t>➤  UMUMIY NOANIQLIK  uc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108000" y="1116000"/>
            <a:ext cx="2700000" cy="864000"/>
          </a:xfrm>
          <a:prstGeom prst="rect">
            <a:avLst/>
          </a:prstGeom>
          <a:solidFill>
            <a:srgbClr val="2E75B6"/>
          </a:solidFill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1. STANDARTLAR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&amp; CRM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80000" y="1386000"/>
            <a:ext cx="2556000" cy="576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Sertifikat sof.(%)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Lot-to-lot o'zgarish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Saqlash sharoiti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3060000" y="1116000"/>
            <a:ext cx="2700000" cy="864000"/>
          </a:xfrm>
          <a:prstGeom prst="rect">
            <a:avLst/>
          </a:prstGeom>
          <a:solidFill>
            <a:srgbClr val="7030A0"/>
          </a:solidFill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2. TAROZILASH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&amp; HAJM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3132000" y="1386000"/>
            <a:ext cx="2556000" cy="576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Tarozilay og'ishi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Pipetka/kolba sertif.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Harorat ta'siri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6012000" y="1116000"/>
            <a:ext cx="2700000" cy="864000"/>
          </a:xfrm>
          <a:prstGeom prst="rect">
            <a:avLst/>
          </a:prstGeom>
          <a:solidFill>
            <a:srgbClr val="375623"/>
          </a:solidFill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3. EKSTRAKSIYA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&amp; TAYYORLASH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6084000" y="1386000"/>
            <a:ext cx="2556000" cy="576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Recovery o'zgarishi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SPE/LLE unumi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Matritsa ta'siri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08000" y="2322000"/>
            <a:ext cx="2700000" cy="864000"/>
          </a:xfrm>
          <a:prstGeom prst="rect">
            <a:avLst/>
          </a:prstGeom>
          <a:solidFill>
            <a:srgbClr val="C55A11"/>
          </a:solidFill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4. ASBOB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JAVOBI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80000" y="2592000"/>
            <a:ext cx="2556000" cy="576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Kalibrasiya aniqligi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Detektor barqarorligi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MS ion suppression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3060000" y="2322000"/>
            <a:ext cx="2700000" cy="864000"/>
          </a:xfrm>
          <a:prstGeom prst="rect">
            <a:avLst/>
          </a:prstGeom>
          <a:solidFill>
            <a:srgbClr val="1F3864"/>
          </a:solidFill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5. ATROF-MUHIT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132000" y="2592000"/>
            <a:ext cx="2556000" cy="576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Harorat (±1°C)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Namlik ta'siri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Titrasyon xatosi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6012000" y="2322000"/>
            <a:ext cx="2700000" cy="864000"/>
          </a:xfrm>
          <a:prstGeom prst="rect">
            <a:avLst/>
          </a:prstGeom>
          <a:solidFill>
            <a:srgbClr val="C00000"/>
          </a:solidFill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6. OPERATORGA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BOG'LIQ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6084000" y="2592000"/>
            <a:ext cx="2556000" cy="576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Operator farqi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Kunlararo farq</a:t>
            </a:r>
          </a:p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FFFFFF"/>
                </a:solidFill>
                <a:latin typeface="Calibri"/>
              </a:rPr>
              <a:t>• IQC intermediate SD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BFF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NOANIQLIK BYUDJETI — HISOBLASH JADVALI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GUM §5 | EURACHEM/CITAC CG4 — Pestitsid qoldig'i (LC-MS/MS, 50 µg/kg) misoli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u_c = √(0.029²+0.017²+0.023²+0.031²+0.012²+0.008²) = 0.053 → U = 2×0.053 = 0.106 → 10.6 µg/kg (k=2)</a:t>
            </a:r>
          </a:p>
        </p:txBody>
      </p:sp>
      <p:graphicFrame>
        <p:nvGraphicFramePr>
          <p:cNvPr id="7" name="tbl7"/>
          <p:cNvGraphicFramePr>
            <a:graphicFrameLocks noGrp="1"/>
          </p:cNvGraphicFramePr>
          <p:nvPr/>
        </p:nvGraphicFramePr>
        <p:xfrm>
          <a:off x="108000" y="1134000"/>
          <a:ext cx="8928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1260000"/>
                <a:gridCol w="1260000"/>
                <a:gridCol w="1152000"/>
                <a:gridCol w="1007999"/>
                <a:gridCol w="1007999"/>
                <a:gridCol w="864000"/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Noaniqlik manbai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Qiymat (a)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Taqsimot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Divisor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u(xᵢ)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u²(xᵢ)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Hissa (%)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CRM sofligi (99.2±0.4%)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To'g'ri burchak (R)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√3=1.732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0.231%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0.053%²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10.7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Tarozilay (±0.1 mg)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0.1 mg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√3=1.732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0.058 mg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0.003 mg²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Ekstraksiya Recovery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SD=2.3%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Normal (N)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5.3%²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Kalibrasiya egri chizig'i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SD=1.7%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2.9%²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Matritsa ta'siri (IS CV)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SD=3.1%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9.6%²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43.0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Hajmiy idishlar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0.08%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√3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0.046%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0.002%²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Harorat ta'siri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√3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0.289%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0.083%²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JAMI  u_c (rel.)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28.0%²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p8"/>
          <p:cNvSpPr>
            <a:spLocks noGrp="1"/>
          </p:cNvSpPr>
          <p:nvPr/>
        </p:nvSpPr>
        <p:spPr>
          <a:xfrm>
            <a:off x="108000" y="2862000"/>
            <a:ext cx="8928000" cy="270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300" dirty="0" b="1" i="0">
                <a:solidFill>
                  <a:srgbClr val="FFFFFF"/>
                </a:solidFill>
                <a:latin typeface="Calibri"/>
              </a:rPr>
              <a:t>NATIJA:  50 µg/kg ± 10.6 µg/kg   (U, k=2, ~95% ishonch)   |   U_rel = 10.6 / 50 × 100 = 21.2%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BFF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NOANIQLIK HISOBLASH YONDASHUVLARI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Top-down (empirik) vs Bottom-up (GUM) — Foydalanish holatlari va afzalliklar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EURACHEM/CITAC CG4 (2012): Routine laboratoriyalar uchun Top-down, yangi metodlar uchun Bottom-up tavsiya etiladi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08000" y="1152000"/>
            <a:ext cx="4320000" cy="234000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300" dirty="0" b="1" i="0">
                <a:solidFill>
                  <a:srgbClr val="FFFFFF"/>
                </a:solidFill>
                <a:latin typeface="Calibri"/>
              </a:rPr>
              <a:t>⬆  TOP-DOWN YONDASHUV (EURACHEM CG4)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108000" y="1386000"/>
            <a:ext cx="4320000" cy="1116000"/>
          </a:xfrm>
          <a:prstGeom prst="rect">
            <a:avLst/>
          </a:prstGeom>
          <a:solidFill>
            <a:srgbClr val="D6E4F0"/>
          </a:solidFill>
          <a:ln>
            <a:solidFill>
              <a:srgbClr val="CCCCCC"/>
            </a:solidFill>
          </a:ln>
        </p:spPr>
        <p:txBody>
          <a:bodyPr anchor="t" lIns="108000" tIns="72000" rIns="108000" bIns="72000" wrap="square"/>
          <a:lstStyle/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IQC ma'lumotlaridan hisoblash (≥6 oy, ≥60 ta natija)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u_c = √[ u²(repeat.) + u²(inter-day SD) + u²(bias) ]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Bias = |(x̄ − μ_ref)| / μ_ref  (CRM yoki PT dan)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Kamchiligi: Sistemik xatolarni ko'rsatmasligi mumkin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Qachon: Ko'p IQC tarixi bor kundalik testlar uchun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4680000" y="1152000"/>
            <a:ext cx="4140000" cy="234000"/>
          </a:xfrm>
          <a:prstGeom prst="rect">
            <a:avLst/>
          </a:prstGeom>
          <a:solidFill>
            <a:srgbClr val="375623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300" dirty="0" b="1" i="0">
                <a:solidFill>
                  <a:srgbClr val="FFFFFF"/>
                </a:solidFill>
                <a:latin typeface="Calibri"/>
              </a:rPr>
              <a:t>⬇  BOTTOM-UP YONDASHUV (GUM §5)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680000" y="1386000"/>
            <a:ext cx="4140000" cy="1116000"/>
          </a:xfrm>
          <a:prstGeom prst="rect">
            <a:avLst/>
          </a:prstGeom>
          <a:solidFill>
            <a:srgbClr val="E2EFDA"/>
          </a:solidFill>
          <a:ln>
            <a:solidFill>
              <a:srgbClr val="CCCCCC"/>
            </a:solidFill>
          </a:ln>
        </p:spPr>
        <p:txBody>
          <a:bodyPr anchor="t" lIns="108000" tIns="72000" rIns="108000" bIns="72000" wrap="square"/>
          <a:lstStyle/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Har bir manba alohida identifikatsiya va miqdorlanadi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u(xi) = a / divisor  (taqsimotga qarab)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Kragten elektron jadvali yoki qisman hosilalar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Afzalligi: Sistemik komponentlarni aniqlaydi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10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1000" dirty="0" b="0" i="0">
                <a:solidFill>
                  <a:srgbClr val="000000"/>
                </a:solidFill>
                <a:latin typeface="Calibri"/>
              </a:rPr>
              <a:t>Qachon: Yangi metod, validatsiya, akkreditatsiya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08000" y="2574000"/>
            <a:ext cx="8928000" cy="23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200" dirty="0" b="1" i="0">
                <a:solidFill>
                  <a:srgbClr val="FFFFFF"/>
                </a:solidFill>
                <a:latin typeface="Calibri"/>
              </a:rPr>
              <a:t>Ikkala yondashuv uchun ham:   U = k × u_c   (k=2 → ~95%)   |   Hisobotda: x̄ ± U [birlik]; k=2; CRM kuzatilishi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108000" y="2844000"/>
            <a:ext cx="2880000" cy="234000"/>
          </a:xfrm>
          <a:prstGeom prst="rect">
            <a:avLst/>
          </a:prstGeom>
          <a:solidFill>
            <a:srgbClr val="7030A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NORMAL taqsimot → divisor = 1  (IQC SD)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096000" y="2844000"/>
            <a:ext cx="2520000" cy="234000"/>
          </a:xfrm>
          <a:prstGeom prst="rect">
            <a:avLst/>
          </a:prstGeom>
          <a:solidFill>
            <a:srgbClr val="C55A11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TO'G'RI BURCHAK → divisor = √3  (sertifikat ±)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5760000" y="2844000"/>
            <a:ext cx="3060000" cy="234000"/>
          </a:xfrm>
          <a:prstGeom prst="rect">
            <a:avLst/>
          </a:prstGeom>
          <a:solidFill>
            <a:srgbClr val="C0000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UCHBURCHAK → divisor = √6  (ikkala chegara)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8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TOKSIK MODDALAR — NOANIQLIK MISOLLARI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Pestitsidlar | Og'ir metallar | Mikotoksinlar | PAH | Veterinar dori qoldiqlari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SANTE/11813/2017: Recovery 70–120%, RSD ≤20%. EC 333/2007: Pb, Cd, Hg uchun MU ≤50% at MRL. COMMISSION REG (EC) 401/2006: Aflatoksin U≤50%</a:t>
            </a:r>
          </a:p>
        </p:txBody>
      </p:sp>
      <p:graphicFrame>
        <p:nvGraphicFramePr>
          <p:cNvPr id="7" name="tbl7"/>
          <p:cNvGraphicFramePr>
            <a:graphicFrameLocks noGrp="1"/>
          </p:cNvGraphicFramePr>
          <p:nvPr/>
        </p:nvGraphicFramePr>
        <p:xfrm>
          <a:off x="108000" y="1134000"/>
          <a:ext cx="89280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512000"/>
                <a:gridCol w="1260000"/>
                <a:gridCol w="1260000"/>
                <a:gridCol w="1620000"/>
                <a:gridCol w="1512000"/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Analitik / Guruh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Metod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Matriks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MRL / Cutoff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Maqbul U_rel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Qaror qoidasi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Pestitsid qoldig'i
(masalan, imidakloprid)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LC-MS/MS
SANTE/11813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Meva/sabzavot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0.01 mg/kg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≤50% MRL da
(~25-30% maqbul)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Qat'iy Guard Band
w = U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Aflatoksin B1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HPLC-FLD
ISO 16050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Don, yong'oq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2 µg/kg (EU)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≤50% MRL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Stringent GB
ILAC-G8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Qo'rg'oshin (Pb)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ICP-MS
EN 15763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Oziq-ovqat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0.1 mg/kg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≤50% (Reg.333/2007)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Shared Risk
yoki Stringent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Simob (Hg)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CV-AAS / ICP-MS
ISO 17852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Baliq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0.5 mg/kg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≤50%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Stringent GB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Okratoksin A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HPLC-FLD
EN 14132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Donli ekinlar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3 µg/kg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≤50%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Guard Band w=U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Veterinar dori
(enrofloksatsin)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LC-MS/MS
2002/657/EC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Go'sht, tuxum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100 µg/kg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≤20% (CCα)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CCα/CCβ qaror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PAH (B[a]P)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GC-MS
EN 16619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Tutun, yog'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2 µg/kg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≤50%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Guard Band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BFF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QAROR QABUL QILISH QOIDALARI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ILAC-G8:09/2019 | ISO/IEC 17025:2017 Cl.7.8.6 | ASME B89.7.3.1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ILAC-G8: 'The decision rule shall be documented in the test report when a statement of conformity is made'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08000" y="1188000"/>
            <a:ext cx="2340000" cy="396000"/>
          </a:xfrm>
          <a:prstGeom prst="rect">
            <a:avLst/>
          </a:prstGeom>
          <a:solidFill>
            <a:srgbClr val="375623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✅  MANFIY ZONA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x &lt; TL − U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2448000" y="1188000"/>
            <a:ext cx="1440000" cy="396000"/>
          </a:xfrm>
          <a:prstGeom prst="rect">
            <a:avLst/>
          </a:prstGeom>
          <a:solidFill>
            <a:srgbClr val="F4B942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🟡  NOANIQLIK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ZONASI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3888000" y="1188000"/>
            <a:ext cx="1800000" cy="396000"/>
          </a:xfrm>
          <a:prstGeom prst="rect">
            <a:avLst/>
          </a:prstGeom>
          <a:solidFill>
            <a:srgbClr val="FFD96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1F3864"/>
                </a:solidFill>
                <a:latin typeface="Calibri"/>
              </a:rPr>
              <a:t>⚠ CHEGARA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1F3864"/>
                </a:solidFill>
                <a:latin typeface="Calibri"/>
              </a:rPr>
              <a:t>HUDUDI ±U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5688000" y="1188000"/>
            <a:ext cx="3131999" cy="396000"/>
          </a:xfrm>
          <a:prstGeom prst="rect">
            <a:avLst/>
          </a:prstGeom>
          <a:solidFill>
            <a:srgbClr val="C0000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🔴  MUSBAT ZONA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x &gt; TL + U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2340000" y="972000"/>
            <a:ext cx="720000" cy="18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1" i="0">
                <a:solidFill>
                  <a:srgbClr val="C00000"/>
                </a:solidFill>
                <a:latin typeface="Calibri"/>
              </a:rPr>
              <a:t>TL − U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5580000" y="972000"/>
            <a:ext cx="540000" cy="18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1F3864"/>
                </a:solidFill>
                <a:latin typeface="Calibri"/>
              </a:rPr>
              <a:t>TL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7740000" y="972000"/>
            <a:ext cx="720000" cy="18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1" i="0">
                <a:solidFill>
                  <a:srgbClr val="C00000"/>
                </a:solidFill>
                <a:latin typeface="Calibri"/>
              </a:rPr>
              <a:t>TL + U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08000" y="1674000"/>
            <a:ext cx="2160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1" i="0">
                <a:solidFill>
                  <a:srgbClr val="FFFFFF"/>
                </a:solidFill>
                <a:latin typeface="Calibri"/>
              </a:rPr>
              <a:t>1. ODDIY QABUL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08000" y="1925999"/>
            <a:ext cx="2160000" cy="864000"/>
          </a:xfrm>
          <a:prstGeom prst="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txBody>
          <a:bodyPr anchor="t" lIns="108000" tIns="72000" rIns="108000" bIns="72000" wrap="square"/>
          <a:lstStyle/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Noaniqlik hisobga olinmaydi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x &gt; TL → MUSBAT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Qonuniy jihatdan zaif!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Faqat mijoz rozi bo'lsa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2340000" y="1674000"/>
            <a:ext cx="2160000" cy="251999"/>
          </a:xfrm>
          <a:prstGeom prst="rect">
            <a:avLst/>
          </a:prstGeom>
          <a:solidFill>
            <a:srgbClr val="375623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1" i="0">
                <a:solidFill>
                  <a:srgbClr val="FFFFFF"/>
                </a:solidFill>
                <a:latin typeface="Calibri"/>
              </a:rPr>
              <a:t>2. TAQSIMLANGAN RISK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2340000" y="1925999"/>
            <a:ext cx="2160000" cy="864000"/>
          </a:xfrm>
          <a:prstGeom prst="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txBody>
          <a:bodyPr anchor="t" lIns="108000" tIns="72000" rIns="108000" bIns="72000" wrap="square"/>
          <a:lstStyle/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x &gt; TL → Musbat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Yolg'on +/- risk teng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Har ikki tomon baham ko'radi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375623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O'rta risk holatlarda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4572000" y="1674000"/>
            <a:ext cx="2160000" cy="251999"/>
          </a:xfrm>
          <a:prstGeom prst="rect">
            <a:avLst/>
          </a:prstGeom>
          <a:solidFill>
            <a:srgbClr val="C55A11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1" i="0">
                <a:solidFill>
                  <a:srgbClr val="FFFFFF"/>
                </a:solidFill>
                <a:latin typeface="Calibri"/>
              </a:rPr>
              <a:t>3. QAT'IY GUARD BAND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1" i="0">
                <a:solidFill>
                  <a:srgbClr val="FFFFFF"/>
                </a:solidFill>
                <a:latin typeface="Calibri"/>
              </a:rPr>
              <a:t>(w = U) — TAVSIYA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4572000" y="1925999"/>
            <a:ext cx="2160000" cy="864000"/>
          </a:xfrm>
          <a:prstGeom prst="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txBody>
          <a:bodyPr anchor="t" lIns="108000" tIns="72000" rIns="108000" bIns="72000" wrap="square"/>
          <a:lstStyle/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C55A11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x ≥ TL+U → Musbat ✓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C55A11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x ≤ TL−U → Manfiy ✓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C55A11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Oradagilar: noaniq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C55A11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Forensik/huquqiy uchun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6804000" y="1674000"/>
            <a:ext cx="2160000" cy="251999"/>
          </a:xfrm>
          <a:prstGeom prst="rect">
            <a:avLst/>
          </a:prstGeom>
          <a:solidFill>
            <a:srgbClr val="7030A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1" i="0">
                <a:solidFill>
                  <a:srgbClr val="FFFFFF"/>
                </a:solidFill>
                <a:latin typeface="Calibri"/>
              </a:rPr>
              <a:t>4. YUMSHOQ GUARD BAND</a:t>
            </a:r>
          </a:p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1" i="0">
                <a:solidFill>
                  <a:srgbClr val="FFFFFF"/>
                </a:solidFill>
                <a:latin typeface="Calibri"/>
              </a:rPr>
              <a:t>(klinik uchun)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6804000" y="1925999"/>
            <a:ext cx="2160000" cy="864000"/>
          </a:xfrm>
          <a:prstGeom prst="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txBody>
          <a:bodyPr anchor="t" lIns="108000" tIns="72000" rIns="108000" bIns="72000" wrap="square"/>
          <a:lstStyle/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7030A0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x ≥ TL−U → Musbat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7030A0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Yolg'on manfiy minimal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7030A0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Klinik favqulodda hollarda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7030A0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• Xavfli moddalar uchun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108000" y="2862000"/>
            <a:ext cx="8928000" cy="23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200" dirty="0" b="1" i="0">
                <a:solidFill>
                  <a:srgbClr val="FFFFFF"/>
                </a:solidFill>
                <a:latin typeface="Calibri"/>
              </a:rPr>
              <a:t>TUR (Test Uncertainty Ratio) = Tolerans / (2×U)   →   TUR ≥ 4: Ishonchli qaror  |  TUR &lt; 2: Qaror ishonchsiz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BFF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METROLOGIK KUZATILISH ZANJIRI VA CRM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ISO/IEC 17025 Cl.6.6 | ILAC-P10:2022 | VIM §2.41 | EA-4/02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VIM §2.41: Traceability — property of a measurement result relating it to a reference through a documented unbroken chain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2862000" y="1080000"/>
            <a:ext cx="3420000" cy="432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1" i="0">
                <a:solidFill>
                  <a:srgbClr val="FFFFFF"/>
                </a:solidFill>
                <a:latin typeface="Calibri"/>
              </a:rPr>
              <a:t>SI BIRLIKLARI (mol, kg, m, K)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6354000" y="1152000"/>
            <a:ext cx="1800000" cy="288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1">
                <a:solidFill>
                  <a:srgbClr val="595959"/>
                </a:solidFill>
                <a:latin typeface="Calibri"/>
              </a:rPr>
              <a:t>BIPM / NMI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4464000" y="1512000"/>
            <a:ext cx="288000" cy="9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595959"/>
                </a:solidFill>
                <a:latin typeface="Calibri"/>
              </a:rPr>
              <a:t>▼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3402000" y="1530000"/>
            <a:ext cx="2340000" cy="432000"/>
          </a:xfrm>
          <a:prstGeom prst="rect">
            <a:avLst/>
          </a:prstGeom>
          <a:solidFill>
            <a:srgbClr val="C0000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1" i="0">
                <a:solidFill>
                  <a:srgbClr val="FFFFFF"/>
                </a:solidFill>
                <a:latin typeface="Calibri"/>
              </a:rPr>
              <a:t>BIRLAMCHI ETALON &amp; CRM (NIST, LGC, BAM, IRMM)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5814000" y="1602000"/>
            <a:ext cx="1800000" cy="288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1">
                <a:solidFill>
                  <a:srgbClr val="595959"/>
                </a:solidFill>
                <a:latin typeface="Calibri"/>
              </a:rPr>
              <a:t>U_ref ±δ%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4464000" y="1962000"/>
            <a:ext cx="288000" cy="9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595959"/>
                </a:solidFill>
                <a:latin typeface="Calibri"/>
              </a:rPr>
              <a:t>▼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672000" y="1980000"/>
            <a:ext cx="1800000" cy="432000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1" i="0">
                <a:solidFill>
                  <a:srgbClr val="FFFFFF"/>
                </a:solidFill>
                <a:latin typeface="Calibri"/>
              </a:rPr>
              <a:t>IKKILAMCHI STANDART / IN-HOUSE CRM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5544000" y="2052000"/>
            <a:ext cx="1800000" cy="288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1">
                <a:solidFill>
                  <a:srgbClr val="595959"/>
                </a:solidFill>
                <a:latin typeface="Calibri"/>
              </a:rPr>
              <a:t>Sertifikat + U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4464000" y="2412000"/>
            <a:ext cx="288000" cy="9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595959"/>
                </a:solidFill>
                <a:latin typeface="Calibri"/>
              </a:rPr>
              <a:t>▼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3852000" y="2430000"/>
            <a:ext cx="1440000" cy="432000"/>
          </a:xfrm>
          <a:prstGeom prst="rect">
            <a:avLst/>
          </a:prstGeom>
          <a:solidFill>
            <a:srgbClr val="375623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1" i="0">
                <a:solidFill>
                  <a:srgbClr val="FFFFFF"/>
                </a:solidFill>
                <a:latin typeface="Calibri"/>
              </a:rPr>
              <a:t>ISHCHI KALIBRASIYA STANDARTLARI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5364000" y="2502000"/>
            <a:ext cx="1800000" cy="288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1">
                <a:solidFill>
                  <a:srgbClr val="595959"/>
                </a:solidFill>
                <a:latin typeface="Calibri"/>
              </a:rPr>
              <a:t>Kundalik tayyorlanish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4464000" y="2862000"/>
            <a:ext cx="288000" cy="9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595959"/>
                </a:solidFill>
                <a:latin typeface="Calibri"/>
              </a:rPr>
              <a:t>▼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4032000" y="2880000"/>
            <a:ext cx="1080000" cy="432000"/>
          </a:xfrm>
          <a:prstGeom prst="rect">
            <a:avLst/>
          </a:prstGeom>
          <a:solidFill>
            <a:srgbClr val="C55A11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1" i="0">
                <a:solidFill>
                  <a:srgbClr val="FFFFFF"/>
                </a:solidFill>
                <a:latin typeface="Calibri"/>
              </a:rPr>
              <a:t>IQC / QC NAMUNALARI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5184000" y="2952000"/>
            <a:ext cx="1800000" cy="288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1">
                <a:solidFill>
                  <a:srgbClr val="595959"/>
                </a:solidFill>
                <a:latin typeface="Calibri"/>
              </a:rPr>
              <a:t>Westgard nazorati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4464000" y="3312000"/>
            <a:ext cx="288000" cy="9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0">
                <a:solidFill>
                  <a:srgbClr val="595959"/>
                </a:solidFill>
                <a:latin typeface="Calibri"/>
              </a:rPr>
              <a:t>▼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4212000" y="3330000"/>
            <a:ext cx="720000" cy="432000"/>
          </a:xfrm>
          <a:prstGeom prst="rect">
            <a:avLst/>
          </a:prstGeom>
          <a:solidFill>
            <a:srgbClr val="7030A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1" i="0">
                <a:solidFill>
                  <a:srgbClr val="FFFFFF"/>
                </a:solidFill>
                <a:latin typeface="Calibri"/>
              </a:rPr>
              <a:t>LABORATORIYA NATIJASI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5004000" y="3402000"/>
            <a:ext cx="1800000" cy="288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900" dirty="0" b="0" i="1">
                <a:solidFill>
                  <a:srgbClr val="595959"/>
                </a:solidFill>
                <a:latin typeface="Calibri"/>
              </a:rPr>
              <a:t>x ± U (k=2)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6120000" y="1152000"/>
            <a:ext cx="2700000" cy="1800000"/>
          </a:xfrm>
          <a:prstGeom prst="rect">
            <a:avLst/>
          </a:prstGeom>
          <a:solidFill>
            <a:srgbClr val="D6E4F0"/>
          </a:solidFill>
          <a:ln>
            <a:solidFill>
              <a:srgbClr val="CCCCCC"/>
            </a:solidFill>
          </a:ln>
        </p:spPr>
        <p:txBody>
          <a:bodyPr anchor="t" lIns="108000" tIns="72000" rIns="108000" bIns="72000" wrap="square"/>
          <a:lstStyle/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Matrix-matched CRM afzal (LC, GC, ICP)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Sertifikat: U va k ko'rsatilgan bo'lishi kerak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NMI kuzatilishi: NIST/LGC/BAM/IRMM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Amal qilish muddati tekshirilsin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Saqlash: sertifikat haroratida</a:t>
            </a:r>
          </a:p>
          <a:p>
            <a:pPr algn="l" indent="0">
              <a:spcBef>
                <a:spcPts val="300"/>
              </a:spcBef>
              <a:spcAft>
                <a:spcPts val="300"/>
              </a:spcAft>
            </a:pPr>
            <a:r>
              <a:rPr lang="uz-UZ" sz="900" dirty="0" b="1" i="0">
                <a:solidFill>
                  <a:srgbClr val="2E75B6"/>
                </a:solidFill>
                <a:latin typeface="Calibri"/>
              </a:rPr>
              <a:t>• </a:t>
            </a:r>
            <a:r>
              <a:rPr lang="uz-UZ" sz="900" dirty="0" b="0" i="0">
                <a:solidFill>
                  <a:srgbClr val="000000"/>
                </a:solidFill>
                <a:latin typeface="Calibri"/>
              </a:rPr>
              <a:t>Qayta kalibrlash: ma'lumotga asosida
(R-chart, Nelson qoidasi)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6120000" y="1080000"/>
            <a:ext cx="2700000" cy="180000"/>
          </a:xfrm>
          <a:prstGeom prst="rect">
            <a:avLst/>
          </a:prstGeom>
          <a:noFill/>
        </p:spPr>
        <p:txBody>
          <a:bodyPr anchor="t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1F3864"/>
                </a:solidFill>
                <a:latin typeface="Calibri"/>
              </a:rPr>
              <a:t>CRM TANLASH MEZONLARI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BFF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KALIBRASIYA EGRI CHIZIG'I VA LOD/LOQ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ISO/IEC 17025 Cl.7.3 | FDA BMV 2018 | SANTE/11813 | ISO 11843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LOD = 3.3×Sy/b  |  LOQ = 10×Sy/b  |  R²≥0.999 (LC-MS/MS)  |  Back-calc. dev.≤15% at LOQ, ≤10% iboshqa nuqtalarda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08000" y="1152000"/>
            <a:ext cx="4140000" cy="234000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200" dirty="0" b="1" i="0">
                <a:solidFill>
                  <a:srgbClr val="FFFFFF"/>
                </a:solidFill>
                <a:latin typeface="Calibri"/>
              </a:rPr>
              <a:t>KALIBRASIYA MODELI TANLASH</a:t>
            </a:r>
          </a:p>
        </p:txBody>
      </p:sp>
      <p:graphicFrame>
        <p:nvGraphicFramePr>
          <p:cNvPr id="8" name="tbl8"/>
          <p:cNvGraphicFramePr>
            <a:graphicFrameLocks noGrp="1"/>
          </p:cNvGraphicFramePr>
          <p:nvPr/>
        </p:nvGraphicFramePr>
        <p:xfrm>
          <a:off x="108000" y="1386000"/>
          <a:ext cx="4140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1007999"/>
                <a:gridCol w="1007999"/>
                <a:gridCol w="1080000"/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Mezon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Linear (1/x²)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Non-linear 4PL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Weighted Lin.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Qachon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LC-MS/MS
GC-MS (tor diapazon)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Immunoassay
ELISA, CLIA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Geteroscedastic
keng diapazon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R² talabi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≥ 0.999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≥ 0.995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≥ 0.999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Residual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≤±10% (≤15% LOQ)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≤±20% (~LOQ)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≤±15%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Og'irlik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1/x² (asosiy)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1/y² tavsiya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1/x yoki 1/x²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Tekshirish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Back-calc farq%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4PL parametrlar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SSRR minimum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9" name="sp9"/>
          <p:cNvSpPr>
            <a:spLocks noGrp="1"/>
          </p:cNvSpPr>
          <p:nvPr/>
        </p:nvSpPr>
        <p:spPr>
          <a:xfrm>
            <a:off x="4392000" y="1152000"/>
            <a:ext cx="4464000" cy="234000"/>
          </a:xfrm>
          <a:prstGeom prst="rect">
            <a:avLst/>
          </a:prstGeom>
          <a:solidFill>
            <a:srgbClr val="C0000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200" dirty="0" b="1" i="0">
                <a:solidFill>
                  <a:srgbClr val="FFFFFF"/>
                </a:solidFill>
                <a:latin typeface="Calibri"/>
              </a:rPr>
              <a:t>LOD / LOQ HISOBLASH METODLARI</a:t>
            </a:r>
          </a:p>
        </p:txBody>
      </p:sp>
      <p:graphicFrame>
        <p:nvGraphicFramePr>
          <p:cNvPr id="10" name="tbl10"/>
          <p:cNvGraphicFramePr>
            <a:graphicFrameLocks noGrp="1"/>
          </p:cNvGraphicFramePr>
          <p:nvPr/>
        </p:nvGraphicFramePr>
        <p:xfrm>
          <a:off x="4392000" y="1386000"/>
          <a:ext cx="4464000" cy="139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/>
                <a:gridCol w="1512000"/>
                <a:gridCol w="1692000"/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Metod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Qachon qo'llanadi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Kalibrasiya
egri chizig'i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LOD=3.3×Sy/b
LOQ=10×Sy/b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LC-MS/MS, GC-MS
(asosiy metod)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Signal/Shovqin
(S/N)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LOD: S/N=3
LOQ: S/N=10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Xromatografiya
(amaliy)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Blank spike
(ISO 11843)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LOD=x̄blank
+3×s_blank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Biologik matritsa
(eng qat'iy)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0E8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Aniqlik profili
(CV%)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LOQ: CV≤20%
+Recovery 80-120%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Validatsiya uchun
(tasdiqlovchi)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p11"/>
          <p:cNvSpPr>
            <a:spLocks noGrp="1"/>
          </p:cNvSpPr>
          <p:nvPr/>
        </p:nvSpPr>
        <p:spPr>
          <a:xfrm>
            <a:off x="108000" y="2862000"/>
            <a:ext cx="8928000" cy="23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100" dirty="0" b="1" i="0">
                <a:solidFill>
                  <a:srgbClr val="FFFFFF"/>
                </a:solidFill>
                <a:latin typeface="Calibri"/>
              </a:rPr>
              <a:t>Kalibrasiya qabul mezonlari:  R²≥0.999 (MS)  |  ≥2/3 kalibr nuqtalari ±10% ichida  |  LOQ ≤ 50%×MRL  |  IS CV &lt; 15%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" name="sp1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BFF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864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400" dirty="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108000" y="90000"/>
            <a:ext cx="432000" cy="360000"/>
          </a:xfrm>
          <a:prstGeom prst="rect">
            <a:avLst/>
          </a:prstGeom>
          <a:solidFill>
            <a:srgbClr val="00B0F0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648000" y="72000"/>
            <a:ext cx="8316000" cy="432000"/>
          </a:xfrm>
          <a:prstGeom prst="rect">
            <a:avLst/>
          </a:prstGeom>
          <a:noFill/>
        </p:spPr>
        <p:txBody>
          <a:bodyPr anchor="ctr" lIns="91440" tIns="45720" rIns="91440" bIns="45720" wrap="square"/>
          <a:lstStyle/>
          <a:p>
            <a:pPr algn="l" indent="0">
              <a:spcBef>
                <a:spcPts val="0"/>
              </a:spcBef>
              <a:spcAft>
                <a:spcPts val="0"/>
              </a:spcAft>
            </a:pPr>
            <a:r>
              <a:rPr lang="uz-UZ" sz="2200" dirty="0" b="1" i="0">
                <a:solidFill>
                  <a:srgbClr val="FFFFFF"/>
                </a:solidFill>
                <a:latin typeface="Calibri"/>
              </a:rPr>
              <a:t>TO'LIQ METROLOGIK SIFAT TIZIMI — INTEGRATSIYA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0" y="864000"/>
            <a:ext cx="9144000" cy="251999"/>
          </a:xfrm>
          <a:prstGeom prst="rect">
            <a:avLst/>
          </a:prstGeom>
          <a:solidFill>
            <a:srgbClr val="2E75B6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1000" dirty="0" b="0" i="0">
                <a:solidFill>
                  <a:srgbClr val="FFFFFF"/>
                </a:solidFill>
                <a:latin typeface="Calibri"/>
              </a:rPr>
              <a:t>ISO/IEC 17025:2017 | ILAC-G8 | GUM | SANTE — Kundalik amaliyot jadvali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0" y="4927500"/>
            <a:ext cx="9144000" cy="216000"/>
          </a:xfrm>
          <a:prstGeom prst="rect">
            <a:avLst/>
          </a:prstGeom>
          <a:solidFill>
            <a:srgbClr val="1F3864"/>
          </a:solidFill>
        </p:spPr>
        <p:txBody>
          <a:bodyPr anchor="ctr" lIns="91440" tIns="45720" rIns="91440" bIns="45720" wrap="square"/>
          <a:lstStyle/>
          <a:p>
            <a:pPr algn="ctr" indent="0">
              <a:spcBef>
                <a:spcPts val="0"/>
              </a:spcBef>
              <a:spcAft>
                <a:spcPts val="0"/>
              </a:spcAft>
            </a:pPr>
            <a:r>
              <a:rPr lang="uz-UZ" sz="800" dirty="0" b="0" i="0">
                <a:solidFill>
                  <a:srgbClr val="FFFFFF"/>
                </a:solidFill>
                <a:latin typeface="Calibri"/>
              </a:rPr>
              <a:t>Muvaffaqiyatli akkreditatsiya = Kuzatilish + Noaniqlik + Qaror qoidasi + IQC + Hujjatlashtirish — barchasi bir vaqtda</a:t>
            </a:r>
          </a:p>
        </p:txBody>
      </p:sp>
      <p:graphicFrame>
        <p:nvGraphicFramePr>
          <p:cNvPr id="7" name="tbl7"/>
          <p:cNvGraphicFramePr>
            <a:graphicFrameLocks noGrp="1"/>
          </p:cNvGraphicFramePr>
          <p:nvPr/>
        </p:nvGraphicFramePr>
        <p:xfrm>
          <a:off x="108000" y="1134000"/>
          <a:ext cx="8928000" cy="195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/>
                <a:gridCol w="1980000"/>
                <a:gridCol w="1440000"/>
                <a:gridCol w="1980000"/>
                <a:gridCol w="2160000"/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Bosqich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Amal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Standart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KPI / Qabul mezoni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1" i="0">
                          <a:solidFill>
                            <a:srgbClr val="FFFFFF"/>
                          </a:solidFill>
                          <a:latin typeface="Calibri"/>
                        </a:rPr>
                        <a:t>Hujjat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1. Kalibrasiya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Egri chiziq qurish
LOD/LOQ aniqlash
Residual tahlil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ISO 17025
FDA BMV 2018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R²≥0.999
CV≤15% (IS)
Back-calc ≤10%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Kalibrasiya jurnali
Egri chiziq fayli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2. IQC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Kunlik QC o'lchash
Levey-Jennings
Westgard 6 qoida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ISO 17025 Cl.7.7
ILAC-G24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CV≤10% (LC-MS)
CV≤15% (ELISA)
Westgard alert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IQC jadvali
Westgard chart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3. Noaniqlik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Top-down IQC dan
hisoblash, Budget
u_c va U (k=2)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GUM JCGM 100
EURACHEM CG4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U≤50%×MRL
TUR≥4
Yillik qayta baholash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MU budget fayli
Hisobot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4. Kuzatilish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CRM tekshirish
PT ishtirok
Zanjir hujjatlashtirish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ISO 17025 Cl.6.6
ILAC-P10
ISO 13528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z-score |z|≤2
En≤1.0
CRM: ±2U ichida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CRM sertifikati
PT hisoboti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5. Qaror qabul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Guard Band w=U
ILAC-G8 qoidasi
TUR hisoblash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ILAC-G8:2019
ISO 17025 Cl.7.8.6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TUR≥4
Noaniqlik zonasi
hisobotda ko'rsatilsin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Qaror qoidasi
hujjati (SOP)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6. Hujjatlashtirish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Barcha qadam
SOP ga yozish
Audit trail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ISO 17025 Cl.7.5
ILAC-P9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0 ta kuzatilish
bog'liq kamchilik
(akkreditatsiya audit)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uz-UZ" sz="1000" dirty="0" b="0" i="0">
                          <a:solidFill>
                            <a:srgbClr val="000000"/>
                          </a:solidFill>
                          <a:latin typeface="Calibri"/>
                        </a:rPr>
                        <a:t>LIMS / Lab. daftar
SOP to'plami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A96C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